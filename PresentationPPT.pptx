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Anybody SemiBold"/>
      <p:regular r:id="rId35"/>
      <p:bold r:id="rId36"/>
      <p:italic r:id="rId37"/>
      <p:boldItalic r:id="rId38"/>
    </p:embeddedFont>
    <p:embeddedFont>
      <p:font typeface="Albert Sans"/>
      <p:regular r:id="rId39"/>
      <p:bold r:id="rId40"/>
      <p:italic r:id="rId41"/>
      <p:boldItalic r:id="rId42"/>
    </p:embeddedFont>
    <p:embeddedFont>
      <p:font typeface="PT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40F675-9E7A-4841-B485-4233148FD2A8}">
  <a:tblStyle styleId="{A640F675-9E7A-4841-B485-4233148FD2A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lbertSans-bold.fntdata"/><Relationship Id="rId20" Type="http://schemas.openxmlformats.org/officeDocument/2006/relationships/slide" Target="slides/slide14.xml"/><Relationship Id="rId42" Type="http://schemas.openxmlformats.org/officeDocument/2006/relationships/font" Target="fonts/AlbertSans-boldItalic.fntdata"/><Relationship Id="rId41" Type="http://schemas.openxmlformats.org/officeDocument/2006/relationships/font" Target="fonts/AlbertSans-italic.fntdata"/><Relationship Id="rId22" Type="http://schemas.openxmlformats.org/officeDocument/2006/relationships/slide" Target="slides/slide16.xml"/><Relationship Id="rId44" Type="http://schemas.openxmlformats.org/officeDocument/2006/relationships/font" Target="fonts/PTSans-bold.fntdata"/><Relationship Id="rId21" Type="http://schemas.openxmlformats.org/officeDocument/2006/relationships/slide" Target="slides/slide15.xml"/><Relationship Id="rId43" Type="http://schemas.openxmlformats.org/officeDocument/2006/relationships/font" Target="fonts/PTSans-regular.fntdata"/><Relationship Id="rId24" Type="http://schemas.openxmlformats.org/officeDocument/2006/relationships/slide" Target="slides/slide18.xml"/><Relationship Id="rId46" Type="http://schemas.openxmlformats.org/officeDocument/2006/relationships/font" Target="fonts/PTSans-boldItalic.fntdata"/><Relationship Id="rId23" Type="http://schemas.openxmlformats.org/officeDocument/2006/relationships/slide" Target="slides/slide17.xml"/><Relationship Id="rId45" Type="http://schemas.openxmlformats.org/officeDocument/2006/relationships/font" Target="fonts/PT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AnybodySemiBold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AnybodySemiBold-italic.fntdata"/><Relationship Id="rId14" Type="http://schemas.openxmlformats.org/officeDocument/2006/relationships/slide" Target="slides/slide8.xml"/><Relationship Id="rId36" Type="http://schemas.openxmlformats.org/officeDocument/2006/relationships/font" Target="fonts/AnybodySemiBold-bold.fntdata"/><Relationship Id="rId17" Type="http://schemas.openxmlformats.org/officeDocument/2006/relationships/slide" Target="slides/slide11.xml"/><Relationship Id="rId39" Type="http://schemas.openxmlformats.org/officeDocument/2006/relationships/font" Target="fonts/AlbertSans-regular.fntdata"/><Relationship Id="rId16" Type="http://schemas.openxmlformats.org/officeDocument/2006/relationships/slide" Target="slides/slide10.xml"/><Relationship Id="rId38" Type="http://schemas.openxmlformats.org/officeDocument/2006/relationships/font" Target="fonts/AnybodySemiBold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55f44a857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55f44a857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5635692c2b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5635692c2b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lbert Sans"/>
              <a:buAutoNum type="arabicPeriod"/>
            </a:pPr>
            <a:r>
              <a:rPr lang="en-GB" sz="14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Introduction (about dataset, how and where collect, why choose this one) (Ming: )</a:t>
            </a:r>
            <a:endParaRPr sz="14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lbert Sans"/>
              <a:buAutoNum type="arabicPeriod"/>
            </a:pPr>
            <a:r>
              <a:rPr lang="en-GB" sz="14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Business rules + how collect and identify (Jack just help by chatgpt)</a:t>
            </a:r>
            <a:endParaRPr sz="14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lbert Sans"/>
              <a:buAutoNum type="arabicPeriod"/>
            </a:pPr>
            <a:r>
              <a:rPr lang="en-GB" sz="14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EDA analyst + Database in powerPI (Ming: just idea, latter together do in PowerBi)</a:t>
            </a:r>
            <a:endParaRPr sz="14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lbert Sans"/>
              <a:buAutoNum type="arabicPeriod"/>
            </a:pPr>
            <a:r>
              <a:rPr lang="en-GB" sz="14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ERD entity, table, relationship, constrain </a:t>
            </a:r>
            <a:endParaRPr sz="14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lbert Sans"/>
              <a:buAutoNum type="arabicPeriod"/>
            </a:pPr>
            <a:r>
              <a:rPr lang="en-GB" sz="14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Data warehouse (Thuan)</a:t>
            </a:r>
            <a:endParaRPr sz="14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lbert Sans"/>
              <a:buAutoNum type="arabicPeriod"/>
            </a:pPr>
            <a:r>
              <a:rPr lang="en-GB" sz="14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Insight in powerbi (all member)</a:t>
            </a:r>
            <a:endParaRPr sz="14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lbert Sans"/>
              <a:buAutoNum type="arabicPeriod"/>
            </a:pPr>
            <a:r>
              <a:rPr lang="en-GB" sz="14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Future work (what expect to learn and will do) (Jack chatgpt and google)</a:t>
            </a:r>
            <a:endParaRPr sz="14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lbert Sans"/>
              <a:buAutoNum type="arabicPeriod"/>
            </a:pPr>
            <a:r>
              <a:rPr lang="en-GB" sz="14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Reference (if we have)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5635692c2b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5635692c2b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540f14d13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540f14d13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540f14d13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540f14d13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55f44a8578_2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55f44a8578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55f44a8578_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55f44a8578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540f14d134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540f14d13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540f14d13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540f14d13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540f14d13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540f14d13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540f14d13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540f14d13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5635692c2b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5635692c2b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55f44a8578_2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55f44a8578_2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55f44a8578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55f44a8578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55f44a8578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55f44a8578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55f44a8578_2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55f44a8578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5635692c2b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5635692c2b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55f44a857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55f44a857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55f44a857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55f44a857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55f44a857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55f44a857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544074e88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544074e88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540f14d13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540f14d13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544074e884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544074e884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55f44a857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55f44a857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540f14d13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540f14d13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544074e88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544074e88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540f14d134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540f14d13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Limited in time and knowledge in tool and this field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5635692c2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5635692c2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848150" y="689462"/>
            <a:ext cx="4892400" cy="27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5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6089425" y="3837125"/>
            <a:ext cx="2334600" cy="7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-13800" y="-31800"/>
            <a:ext cx="9171600" cy="52071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 txBox="1"/>
          <p:nvPr>
            <p:ph type="title"/>
          </p:nvPr>
        </p:nvSpPr>
        <p:spPr>
          <a:xfrm>
            <a:off x="2040500" y="1761713"/>
            <a:ext cx="3665700" cy="167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720000" y="2027725"/>
            <a:ext cx="1223100" cy="1223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720000" y="3765525"/>
            <a:ext cx="48546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720000" y="1203200"/>
            <a:ext cx="7704000" cy="3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19" name="Google Shape;19;p4"/>
          <p:cNvSpPr/>
          <p:nvPr/>
        </p:nvSpPr>
        <p:spPr>
          <a:xfrm flipH="1" rot="10800000">
            <a:off x="8503500" y="-24000"/>
            <a:ext cx="6405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2" type="title"/>
          </p:nvPr>
        </p:nvSpPr>
        <p:spPr>
          <a:xfrm>
            <a:off x="719999" y="1980700"/>
            <a:ext cx="124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3" type="title"/>
          </p:nvPr>
        </p:nvSpPr>
        <p:spPr>
          <a:xfrm>
            <a:off x="719999" y="3418875"/>
            <a:ext cx="1248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subTitle"/>
          </p:nvPr>
        </p:nvSpPr>
        <p:spPr>
          <a:xfrm>
            <a:off x="2147100" y="1541500"/>
            <a:ext cx="4849800" cy="1272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4" type="subTitle"/>
          </p:nvPr>
        </p:nvSpPr>
        <p:spPr>
          <a:xfrm>
            <a:off x="2147100" y="2979675"/>
            <a:ext cx="4849800" cy="1272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26" name="Google Shape;26;p5"/>
          <p:cNvSpPr/>
          <p:nvPr/>
        </p:nvSpPr>
        <p:spPr>
          <a:xfrm flipH="1" rot="10800000">
            <a:off x="8503500" y="-24000"/>
            <a:ext cx="6405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6"/>
          <p:cNvSpPr/>
          <p:nvPr/>
        </p:nvSpPr>
        <p:spPr>
          <a:xfrm>
            <a:off x="8503500" y="-24000"/>
            <a:ext cx="6405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2812500" y="2725200"/>
            <a:ext cx="5239800" cy="84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subTitle"/>
          </p:nvPr>
        </p:nvSpPr>
        <p:spPr>
          <a:xfrm>
            <a:off x="2812500" y="3762301"/>
            <a:ext cx="5239800" cy="84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257175" y="2889800"/>
            <a:ext cx="4166700" cy="17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idx="1" type="body"/>
          </p:nvPr>
        </p:nvSpPr>
        <p:spPr>
          <a:xfrm>
            <a:off x="720000" y="2276900"/>
            <a:ext cx="3917700" cy="21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indent="-266700" lvl="8" marL="411480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720000" y="725500"/>
            <a:ext cx="3917700" cy="15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>
            <p:ph idx="2" type="pic"/>
          </p:nvPr>
        </p:nvSpPr>
        <p:spPr>
          <a:xfrm>
            <a:off x="-24150" y="-22800"/>
            <a:ext cx="9192300" cy="51891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4227950" y="758825"/>
            <a:ext cx="4196100" cy="11259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4344900" y="540000"/>
            <a:ext cx="4079100" cy="137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subTitle"/>
          </p:nvPr>
        </p:nvSpPr>
        <p:spPr>
          <a:xfrm>
            <a:off x="4344900" y="1886675"/>
            <a:ext cx="4079100" cy="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2" type="title"/>
          </p:nvPr>
        </p:nvSpPr>
        <p:spPr>
          <a:xfrm>
            <a:off x="1872275" y="1330862"/>
            <a:ext cx="3879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3" type="title"/>
          </p:nvPr>
        </p:nvSpPr>
        <p:spPr>
          <a:xfrm>
            <a:off x="1872275" y="2229699"/>
            <a:ext cx="3879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" type="subTitle"/>
          </p:nvPr>
        </p:nvSpPr>
        <p:spPr>
          <a:xfrm>
            <a:off x="6054563" y="1241312"/>
            <a:ext cx="2245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4" type="subTitle"/>
          </p:nvPr>
        </p:nvSpPr>
        <p:spPr>
          <a:xfrm>
            <a:off x="6054563" y="2140149"/>
            <a:ext cx="2245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5" type="title"/>
          </p:nvPr>
        </p:nvSpPr>
        <p:spPr>
          <a:xfrm>
            <a:off x="1872275" y="3128536"/>
            <a:ext cx="3879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6" type="title"/>
          </p:nvPr>
        </p:nvSpPr>
        <p:spPr>
          <a:xfrm>
            <a:off x="1872275" y="4027373"/>
            <a:ext cx="3879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7" type="subTitle"/>
          </p:nvPr>
        </p:nvSpPr>
        <p:spPr>
          <a:xfrm>
            <a:off x="6054588" y="3038986"/>
            <a:ext cx="2245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8" type="subTitle"/>
          </p:nvPr>
        </p:nvSpPr>
        <p:spPr>
          <a:xfrm>
            <a:off x="6054567" y="3937823"/>
            <a:ext cx="22455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hasCustomPrompt="1" idx="9" type="title"/>
          </p:nvPr>
        </p:nvSpPr>
        <p:spPr>
          <a:xfrm>
            <a:off x="943975" y="1148312"/>
            <a:ext cx="7758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hasCustomPrompt="1" idx="13" type="title"/>
          </p:nvPr>
        </p:nvSpPr>
        <p:spPr>
          <a:xfrm>
            <a:off x="943975" y="2945986"/>
            <a:ext cx="7758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/>
          <p:nvPr>
            <p:ph hasCustomPrompt="1" idx="14" type="title"/>
          </p:nvPr>
        </p:nvSpPr>
        <p:spPr>
          <a:xfrm>
            <a:off x="943975" y="2047149"/>
            <a:ext cx="7758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/>
          <p:nvPr>
            <p:ph hasCustomPrompt="1" idx="15" type="title"/>
          </p:nvPr>
        </p:nvSpPr>
        <p:spPr>
          <a:xfrm>
            <a:off x="943975" y="3844823"/>
            <a:ext cx="7758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2">
            <a:alphaModFix/>
          </a:blip>
          <a:srcRect b="0" l="68198" r="3" t="0"/>
          <a:stretch/>
        </p:blipFill>
        <p:spPr>
          <a:xfrm flipH="1">
            <a:off x="8503500" y="0"/>
            <a:ext cx="640499" cy="51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8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720000" y="3858588"/>
            <a:ext cx="4550400" cy="404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720000" y="854013"/>
            <a:ext cx="4550400" cy="295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/>
          <p:nvPr/>
        </p:nvSpPr>
        <p:spPr>
          <a:xfrm flipH="1">
            <a:off x="0" y="-24000"/>
            <a:ext cx="91440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 txBox="1"/>
          <p:nvPr>
            <p:ph type="title"/>
          </p:nvPr>
        </p:nvSpPr>
        <p:spPr>
          <a:xfrm flipH="1">
            <a:off x="3437800" y="1761713"/>
            <a:ext cx="3665700" cy="167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6" name="Google Shape;66;p15"/>
          <p:cNvSpPr txBox="1"/>
          <p:nvPr>
            <p:ph hasCustomPrompt="1" idx="2" type="title"/>
          </p:nvPr>
        </p:nvSpPr>
        <p:spPr>
          <a:xfrm flipH="1">
            <a:off x="7200900" y="2027725"/>
            <a:ext cx="1223100" cy="1223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 flipH="1">
            <a:off x="3437700" y="3765525"/>
            <a:ext cx="4986300" cy="5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27" y="-24000"/>
            <a:ext cx="91440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 txBox="1"/>
          <p:nvPr>
            <p:ph type="title"/>
          </p:nvPr>
        </p:nvSpPr>
        <p:spPr>
          <a:xfrm>
            <a:off x="2040500" y="540000"/>
            <a:ext cx="4902000" cy="167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1" name="Google Shape;71;p16"/>
          <p:cNvSpPr txBox="1"/>
          <p:nvPr>
            <p:ph hasCustomPrompt="1" idx="2" type="title"/>
          </p:nvPr>
        </p:nvSpPr>
        <p:spPr>
          <a:xfrm>
            <a:off x="720000" y="806000"/>
            <a:ext cx="1223100" cy="1223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72" name="Google Shape;72;p16"/>
          <p:cNvSpPr txBox="1"/>
          <p:nvPr>
            <p:ph idx="1" type="subTitle"/>
          </p:nvPr>
        </p:nvSpPr>
        <p:spPr>
          <a:xfrm>
            <a:off x="720000" y="3609600"/>
            <a:ext cx="2014800" cy="99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1_2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/>
          <p:nvPr/>
        </p:nvSpPr>
        <p:spPr>
          <a:xfrm flipH="1">
            <a:off x="27" y="-24000"/>
            <a:ext cx="91440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7"/>
          <p:cNvSpPr txBox="1"/>
          <p:nvPr>
            <p:ph type="title"/>
          </p:nvPr>
        </p:nvSpPr>
        <p:spPr>
          <a:xfrm flipH="1">
            <a:off x="2201553" y="540000"/>
            <a:ext cx="4902000" cy="167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6" name="Google Shape;76;p17"/>
          <p:cNvSpPr txBox="1"/>
          <p:nvPr>
            <p:ph hasCustomPrompt="1" idx="2" type="title"/>
          </p:nvPr>
        </p:nvSpPr>
        <p:spPr>
          <a:xfrm flipH="1">
            <a:off x="7200953" y="806000"/>
            <a:ext cx="1223100" cy="1223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77" name="Google Shape;77;p17"/>
          <p:cNvSpPr txBox="1"/>
          <p:nvPr>
            <p:ph idx="1" type="subTitle"/>
          </p:nvPr>
        </p:nvSpPr>
        <p:spPr>
          <a:xfrm flipH="1">
            <a:off x="6409253" y="3609600"/>
            <a:ext cx="2014800" cy="99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" name="Google Shape;80;p18"/>
          <p:cNvSpPr/>
          <p:nvPr/>
        </p:nvSpPr>
        <p:spPr>
          <a:xfrm flipH="1" rot="10800000">
            <a:off x="8503500" y="-24000"/>
            <a:ext cx="6405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83" name="Google Shape;83;p19"/>
          <p:cNvPicPr preferRelativeResize="0"/>
          <p:nvPr/>
        </p:nvPicPr>
        <p:blipFill rotWithShape="1">
          <a:blip r:embed="rId2">
            <a:alphaModFix/>
          </a:blip>
          <a:srcRect b="0" l="68198" r="3" t="0"/>
          <a:stretch/>
        </p:blipFill>
        <p:spPr>
          <a:xfrm rot="10800000">
            <a:off x="8503500" y="0"/>
            <a:ext cx="640499" cy="51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2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86" name="Google Shape;86;p20"/>
          <p:cNvPicPr preferRelativeResize="0"/>
          <p:nvPr/>
        </p:nvPicPr>
        <p:blipFill rotWithShape="1">
          <a:blip r:embed="rId2">
            <a:alphaModFix/>
          </a:blip>
          <a:srcRect b="0" l="68198" r="3" t="0"/>
          <a:stretch/>
        </p:blipFill>
        <p:spPr>
          <a:xfrm flipH="1">
            <a:off x="8503500" y="0"/>
            <a:ext cx="640499" cy="51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4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/>
          <p:nvPr>
            <p:ph hasCustomPrompt="1" type="title"/>
          </p:nvPr>
        </p:nvSpPr>
        <p:spPr>
          <a:xfrm>
            <a:off x="719988" y="1756611"/>
            <a:ext cx="3376200" cy="82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89" name="Google Shape;89;p21"/>
          <p:cNvSpPr txBox="1"/>
          <p:nvPr>
            <p:ph idx="1" type="subTitle"/>
          </p:nvPr>
        </p:nvSpPr>
        <p:spPr>
          <a:xfrm>
            <a:off x="719988" y="2582390"/>
            <a:ext cx="3376200" cy="4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hasCustomPrompt="1" idx="2" type="title"/>
          </p:nvPr>
        </p:nvSpPr>
        <p:spPr>
          <a:xfrm>
            <a:off x="4096188" y="1756611"/>
            <a:ext cx="3376200" cy="82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91" name="Google Shape;91;p21"/>
          <p:cNvSpPr txBox="1"/>
          <p:nvPr>
            <p:ph idx="3" type="subTitle"/>
          </p:nvPr>
        </p:nvSpPr>
        <p:spPr>
          <a:xfrm>
            <a:off x="4096188" y="2582390"/>
            <a:ext cx="3376200" cy="4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1"/>
          <p:cNvSpPr txBox="1"/>
          <p:nvPr>
            <p:ph hasCustomPrompt="1" idx="4" type="title"/>
          </p:nvPr>
        </p:nvSpPr>
        <p:spPr>
          <a:xfrm>
            <a:off x="4096188" y="3354424"/>
            <a:ext cx="3376200" cy="82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93" name="Google Shape;93;p21"/>
          <p:cNvSpPr txBox="1"/>
          <p:nvPr>
            <p:ph idx="5" type="subTitle"/>
          </p:nvPr>
        </p:nvSpPr>
        <p:spPr>
          <a:xfrm>
            <a:off x="4096188" y="4180203"/>
            <a:ext cx="3376200" cy="4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hasCustomPrompt="1" idx="6" type="title"/>
          </p:nvPr>
        </p:nvSpPr>
        <p:spPr>
          <a:xfrm>
            <a:off x="719988" y="3354424"/>
            <a:ext cx="3376200" cy="82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95" name="Google Shape;95;p21"/>
          <p:cNvSpPr txBox="1"/>
          <p:nvPr>
            <p:ph idx="7" type="subTitle"/>
          </p:nvPr>
        </p:nvSpPr>
        <p:spPr>
          <a:xfrm>
            <a:off x="719988" y="4180203"/>
            <a:ext cx="3376200" cy="4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96" name="Google Shape;96;p21"/>
          <p:cNvPicPr preferRelativeResize="0"/>
          <p:nvPr/>
        </p:nvPicPr>
        <p:blipFill rotWithShape="1">
          <a:blip r:embed="rId2">
            <a:alphaModFix/>
          </a:blip>
          <a:srcRect b="0" l="44490" r="0" t="0"/>
          <a:stretch/>
        </p:blipFill>
        <p:spPr>
          <a:xfrm flipH="1">
            <a:off x="7389250" y="0"/>
            <a:ext cx="1118050" cy="51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1"/>
          <p:cNvSpPr/>
          <p:nvPr/>
        </p:nvSpPr>
        <p:spPr>
          <a:xfrm flipH="1">
            <a:off x="7974601" y="-24000"/>
            <a:ext cx="11694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2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6019500" y="31786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22"/>
          <p:cNvSpPr txBox="1"/>
          <p:nvPr>
            <p:ph idx="2" type="title"/>
          </p:nvPr>
        </p:nvSpPr>
        <p:spPr>
          <a:xfrm>
            <a:off x="3369741" y="31786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" name="Google Shape;101;p22"/>
          <p:cNvSpPr txBox="1"/>
          <p:nvPr>
            <p:ph idx="1" type="subTitle"/>
          </p:nvPr>
        </p:nvSpPr>
        <p:spPr>
          <a:xfrm>
            <a:off x="720000" y="3572225"/>
            <a:ext cx="2404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2"/>
          <p:cNvSpPr txBox="1"/>
          <p:nvPr>
            <p:ph idx="3" type="subTitle"/>
          </p:nvPr>
        </p:nvSpPr>
        <p:spPr>
          <a:xfrm>
            <a:off x="3369741" y="3572225"/>
            <a:ext cx="2404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4" type="title"/>
          </p:nvPr>
        </p:nvSpPr>
        <p:spPr>
          <a:xfrm>
            <a:off x="720001" y="3178625"/>
            <a:ext cx="240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5" type="subTitle"/>
          </p:nvPr>
        </p:nvSpPr>
        <p:spPr>
          <a:xfrm>
            <a:off x="6019500" y="3572225"/>
            <a:ext cx="2404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106" name="Google Shape;106;p22"/>
          <p:cNvPicPr preferRelativeResize="0"/>
          <p:nvPr/>
        </p:nvPicPr>
        <p:blipFill rotWithShape="1">
          <a:blip r:embed="rId2">
            <a:alphaModFix/>
          </a:blip>
          <a:srcRect b="0" l="68198" r="3" t="0"/>
          <a:stretch/>
        </p:blipFill>
        <p:spPr>
          <a:xfrm rot="10800000">
            <a:off x="8503500" y="0"/>
            <a:ext cx="640499" cy="51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2"/>
          <p:cNvSpPr txBox="1"/>
          <p:nvPr>
            <p:ph hasCustomPrompt="1" idx="7" type="title"/>
          </p:nvPr>
        </p:nvSpPr>
        <p:spPr>
          <a:xfrm>
            <a:off x="719992" y="1657175"/>
            <a:ext cx="1280100" cy="82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08" name="Google Shape;108;p22"/>
          <p:cNvSpPr txBox="1"/>
          <p:nvPr>
            <p:ph hasCustomPrompt="1" idx="8" type="title"/>
          </p:nvPr>
        </p:nvSpPr>
        <p:spPr>
          <a:xfrm>
            <a:off x="3369742" y="1657175"/>
            <a:ext cx="1280100" cy="82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109" name="Google Shape;109;p22"/>
          <p:cNvSpPr txBox="1"/>
          <p:nvPr>
            <p:ph hasCustomPrompt="1" idx="9" type="title"/>
          </p:nvPr>
        </p:nvSpPr>
        <p:spPr>
          <a:xfrm>
            <a:off x="6019492" y="1657175"/>
            <a:ext cx="1280100" cy="82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2" type="title"/>
          </p:nvPr>
        </p:nvSpPr>
        <p:spPr>
          <a:xfrm>
            <a:off x="2591400" y="1550700"/>
            <a:ext cx="18975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3" type="title"/>
          </p:nvPr>
        </p:nvSpPr>
        <p:spPr>
          <a:xfrm>
            <a:off x="2591250" y="3323675"/>
            <a:ext cx="18975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4" name="Google Shape;114;p23"/>
          <p:cNvSpPr txBox="1"/>
          <p:nvPr>
            <p:ph idx="1" type="subTitle"/>
          </p:nvPr>
        </p:nvSpPr>
        <p:spPr>
          <a:xfrm>
            <a:off x="2591400" y="2031300"/>
            <a:ext cx="1897200" cy="63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4" type="subTitle"/>
          </p:nvPr>
        </p:nvSpPr>
        <p:spPr>
          <a:xfrm>
            <a:off x="2591550" y="3804275"/>
            <a:ext cx="1897500" cy="634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subTitle"/>
          </p:nvPr>
        </p:nvSpPr>
        <p:spPr>
          <a:xfrm>
            <a:off x="1669850" y="1649606"/>
            <a:ext cx="3579300" cy="515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2" type="subTitle"/>
          </p:nvPr>
        </p:nvSpPr>
        <p:spPr>
          <a:xfrm>
            <a:off x="1669825" y="2721932"/>
            <a:ext cx="3579300" cy="515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3" type="subTitle"/>
          </p:nvPr>
        </p:nvSpPr>
        <p:spPr>
          <a:xfrm>
            <a:off x="1669850" y="3794257"/>
            <a:ext cx="3579300" cy="515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type="title"/>
          </p:nvPr>
        </p:nvSpPr>
        <p:spPr>
          <a:xfrm>
            <a:off x="720000" y="445025"/>
            <a:ext cx="5976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4" type="title"/>
          </p:nvPr>
        </p:nvSpPr>
        <p:spPr>
          <a:xfrm>
            <a:off x="1669838" y="3542127"/>
            <a:ext cx="3579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5" type="title"/>
          </p:nvPr>
        </p:nvSpPr>
        <p:spPr>
          <a:xfrm>
            <a:off x="1669836" y="2469801"/>
            <a:ext cx="3579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6" type="title"/>
          </p:nvPr>
        </p:nvSpPr>
        <p:spPr>
          <a:xfrm>
            <a:off x="1669840" y="1397475"/>
            <a:ext cx="3579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720007" y="1695975"/>
            <a:ext cx="287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2" type="title"/>
          </p:nvPr>
        </p:nvSpPr>
        <p:spPr>
          <a:xfrm>
            <a:off x="4571588" y="1695975"/>
            <a:ext cx="287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" type="subTitle"/>
          </p:nvPr>
        </p:nvSpPr>
        <p:spPr>
          <a:xfrm>
            <a:off x="720000" y="2089575"/>
            <a:ext cx="2878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3" type="subTitle"/>
          </p:nvPr>
        </p:nvSpPr>
        <p:spPr>
          <a:xfrm>
            <a:off x="4571581" y="2089575"/>
            <a:ext cx="2878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4" type="title"/>
          </p:nvPr>
        </p:nvSpPr>
        <p:spPr>
          <a:xfrm>
            <a:off x="720007" y="3220475"/>
            <a:ext cx="287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5" type="title"/>
          </p:nvPr>
        </p:nvSpPr>
        <p:spPr>
          <a:xfrm>
            <a:off x="4571588" y="3220475"/>
            <a:ext cx="287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6" type="subTitle"/>
          </p:nvPr>
        </p:nvSpPr>
        <p:spPr>
          <a:xfrm>
            <a:off x="720000" y="3614075"/>
            <a:ext cx="2878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5"/>
          <p:cNvSpPr txBox="1"/>
          <p:nvPr>
            <p:ph idx="7" type="subTitle"/>
          </p:nvPr>
        </p:nvSpPr>
        <p:spPr>
          <a:xfrm>
            <a:off x="4571581" y="3614075"/>
            <a:ext cx="28785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5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134" name="Google Shape;134;p25"/>
          <p:cNvPicPr preferRelativeResize="0"/>
          <p:nvPr/>
        </p:nvPicPr>
        <p:blipFill rotWithShape="1">
          <a:blip r:embed="rId2">
            <a:alphaModFix/>
          </a:blip>
          <a:srcRect b="0" l="68198" r="3" t="0"/>
          <a:stretch/>
        </p:blipFill>
        <p:spPr>
          <a:xfrm flipH="1">
            <a:off x="8503500" y="0"/>
            <a:ext cx="640499" cy="51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1314007" y="1695975"/>
            <a:ext cx="273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7" name="Google Shape;137;p26"/>
          <p:cNvSpPr txBox="1"/>
          <p:nvPr>
            <p:ph idx="2" type="title"/>
          </p:nvPr>
        </p:nvSpPr>
        <p:spPr>
          <a:xfrm>
            <a:off x="4861507" y="1695975"/>
            <a:ext cx="273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8" name="Google Shape;138;p26"/>
          <p:cNvSpPr txBox="1"/>
          <p:nvPr>
            <p:ph idx="1" type="subTitle"/>
          </p:nvPr>
        </p:nvSpPr>
        <p:spPr>
          <a:xfrm>
            <a:off x="1314000" y="2089575"/>
            <a:ext cx="2730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6"/>
          <p:cNvSpPr txBox="1"/>
          <p:nvPr>
            <p:ph idx="3" type="subTitle"/>
          </p:nvPr>
        </p:nvSpPr>
        <p:spPr>
          <a:xfrm>
            <a:off x="4861500" y="2089575"/>
            <a:ext cx="2730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6"/>
          <p:cNvSpPr txBox="1"/>
          <p:nvPr>
            <p:ph idx="4" type="title"/>
          </p:nvPr>
        </p:nvSpPr>
        <p:spPr>
          <a:xfrm>
            <a:off x="1314007" y="3220475"/>
            <a:ext cx="273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1" name="Google Shape;141;p26"/>
          <p:cNvSpPr txBox="1"/>
          <p:nvPr>
            <p:ph idx="5" type="title"/>
          </p:nvPr>
        </p:nvSpPr>
        <p:spPr>
          <a:xfrm>
            <a:off x="4861507" y="3220475"/>
            <a:ext cx="2730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2" name="Google Shape;142;p26"/>
          <p:cNvSpPr txBox="1"/>
          <p:nvPr>
            <p:ph idx="6" type="subTitle"/>
          </p:nvPr>
        </p:nvSpPr>
        <p:spPr>
          <a:xfrm>
            <a:off x="1314000" y="3614075"/>
            <a:ext cx="2730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6"/>
          <p:cNvSpPr txBox="1"/>
          <p:nvPr>
            <p:ph idx="7" type="subTitle"/>
          </p:nvPr>
        </p:nvSpPr>
        <p:spPr>
          <a:xfrm>
            <a:off x="4861500" y="3614075"/>
            <a:ext cx="2730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26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5" name="Google Shape;145;p26"/>
          <p:cNvSpPr/>
          <p:nvPr/>
        </p:nvSpPr>
        <p:spPr>
          <a:xfrm>
            <a:off x="8503500" y="-24000"/>
            <a:ext cx="6405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6"/>
          <p:cNvPicPr preferRelativeResize="0"/>
          <p:nvPr/>
        </p:nvPicPr>
        <p:blipFill rotWithShape="1">
          <a:blip r:embed="rId2">
            <a:alphaModFix/>
          </a:blip>
          <a:srcRect b="0" l="68198" r="3" t="0"/>
          <a:stretch/>
        </p:blipFill>
        <p:spPr>
          <a:xfrm flipH="1">
            <a:off x="7869138" y="0"/>
            <a:ext cx="640499" cy="51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720005" y="1467375"/>
            <a:ext cx="2112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9" name="Google Shape;149;p27"/>
          <p:cNvSpPr txBox="1"/>
          <p:nvPr>
            <p:ph idx="2" type="title"/>
          </p:nvPr>
        </p:nvSpPr>
        <p:spPr>
          <a:xfrm>
            <a:off x="720004" y="2527925"/>
            <a:ext cx="2112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0" name="Google Shape;150;p27"/>
          <p:cNvSpPr txBox="1"/>
          <p:nvPr>
            <p:ph idx="1" type="subTitle"/>
          </p:nvPr>
        </p:nvSpPr>
        <p:spPr>
          <a:xfrm>
            <a:off x="720000" y="1726625"/>
            <a:ext cx="2112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24242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7"/>
          <p:cNvSpPr txBox="1"/>
          <p:nvPr>
            <p:ph idx="3" type="subTitle"/>
          </p:nvPr>
        </p:nvSpPr>
        <p:spPr>
          <a:xfrm>
            <a:off x="719999" y="2787175"/>
            <a:ext cx="2112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24242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7"/>
          <p:cNvSpPr txBox="1"/>
          <p:nvPr>
            <p:ph idx="4" type="title"/>
          </p:nvPr>
        </p:nvSpPr>
        <p:spPr>
          <a:xfrm>
            <a:off x="3443130" y="1467375"/>
            <a:ext cx="2112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3" name="Google Shape;153;p27"/>
          <p:cNvSpPr txBox="1"/>
          <p:nvPr>
            <p:ph idx="5" type="title"/>
          </p:nvPr>
        </p:nvSpPr>
        <p:spPr>
          <a:xfrm>
            <a:off x="3443129" y="2527925"/>
            <a:ext cx="2112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4" name="Google Shape;154;p27"/>
          <p:cNvSpPr txBox="1"/>
          <p:nvPr>
            <p:ph idx="6" type="subTitle"/>
          </p:nvPr>
        </p:nvSpPr>
        <p:spPr>
          <a:xfrm>
            <a:off x="3443125" y="1726625"/>
            <a:ext cx="2112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24242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7"/>
          <p:cNvSpPr txBox="1"/>
          <p:nvPr>
            <p:ph idx="7" type="subTitle"/>
          </p:nvPr>
        </p:nvSpPr>
        <p:spPr>
          <a:xfrm>
            <a:off x="3443124" y="2787175"/>
            <a:ext cx="2112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24242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7"/>
          <p:cNvSpPr txBox="1"/>
          <p:nvPr>
            <p:ph idx="8" type="title"/>
          </p:nvPr>
        </p:nvSpPr>
        <p:spPr>
          <a:xfrm>
            <a:off x="720000" y="445025"/>
            <a:ext cx="534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7" name="Google Shape;157;p27"/>
          <p:cNvSpPr txBox="1"/>
          <p:nvPr>
            <p:ph idx="9" type="title"/>
          </p:nvPr>
        </p:nvSpPr>
        <p:spPr>
          <a:xfrm>
            <a:off x="720008" y="3588475"/>
            <a:ext cx="2112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8" name="Google Shape;158;p27"/>
          <p:cNvSpPr txBox="1"/>
          <p:nvPr>
            <p:ph idx="13" type="subTitle"/>
          </p:nvPr>
        </p:nvSpPr>
        <p:spPr>
          <a:xfrm>
            <a:off x="720003" y="3847725"/>
            <a:ext cx="2112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24242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7"/>
          <p:cNvSpPr txBox="1"/>
          <p:nvPr>
            <p:ph idx="14" type="title"/>
          </p:nvPr>
        </p:nvSpPr>
        <p:spPr>
          <a:xfrm>
            <a:off x="3443133" y="3588179"/>
            <a:ext cx="2112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27"/>
          <p:cNvSpPr txBox="1"/>
          <p:nvPr>
            <p:ph idx="15" type="subTitle"/>
          </p:nvPr>
        </p:nvSpPr>
        <p:spPr>
          <a:xfrm>
            <a:off x="3443128" y="3847429"/>
            <a:ext cx="21123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242424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6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4823700" y="1834850"/>
            <a:ext cx="3600300" cy="184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rgbClr val="191919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3" name="Google Shape;163;p28"/>
          <p:cNvSpPr txBox="1"/>
          <p:nvPr>
            <p:ph idx="1" type="subTitle"/>
          </p:nvPr>
        </p:nvSpPr>
        <p:spPr>
          <a:xfrm>
            <a:off x="4823712" y="3677750"/>
            <a:ext cx="36003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8"/>
          <p:cNvSpPr/>
          <p:nvPr>
            <p:ph idx="2" type="pic"/>
          </p:nvPr>
        </p:nvSpPr>
        <p:spPr>
          <a:xfrm>
            <a:off x="1762274" y="838250"/>
            <a:ext cx="2889000" cy="3603900"/>
          </a:xfrm>
          <a:prstGeom prst="rect">
            <a:avLst/>
          </a:prstGeom>
          <a:noFill/>
          <a:ln>
            <a:noFill/>
          </a:ln>
        </p:spPr>
      </p:sp>
      <p:pic>
        <p:nvPicPr>
          <p:cNvPr id="165" name="Google Shape;165;p28"/>
          <p:cNvPicPr preferRelativeResize="0"/>
          <p:nvPr/>
        </p:nvPicPr>
        <p:blipFill rotWithShape="1">
          <a:blip r:embed="rId2">
            <a:alphaModFix/>
          </a:blip>
          <a:srcRect b="0" l="73023" r="0" t="0"/>
          <a:stretch/>
        </p:blipFill>
        <p:spPr>
          <a:xfrm>
            <a:off x="925799" y="0"/>
            <a:ext cx="543375" cy="51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8"/>
          <p:cNvSpPr/>
          <p:nvPr/>
        </p:nvSpPr>
        <p:spPr>
          <a:xfrm>
            <a:off x="0" y="-24000"/>
            <a:ext cx="9258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 1">
  <p:cSld name="CUSTOM_6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idx="1" type="subTitle"/>
          </p:nvPr>
        </p:nvSpPr>
        <p:spPr>
          <a:xfrm>
            <a:off x="720000" y="3687275"/>
            <a:ext cx="3198900" cy="8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9"/>
          <p:cNvSpPr txBox="1"/>
          <p:nvPr>
            <p:ph type="title"/>
          </p:nvPr>
        </p:nvSpPr>
        <p:spPr>
          <a:xfrm>
            <a:off x="720000" y="2317275"/>
            <a:ext cx="3198900" cy="111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0" name="Google Shape;170;p29"/>
          <p:cNvSpPr/>
          <p:nvPr/>
        </p:nvSpPr>
        <p:spPr>
          <a:xfrm flipH="1" rot="10800000">
            <a:off x="8503500" y="-24000"/>
            <a:ext cx="6405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TITLE_ONLY_1_1_1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173" name="Google Shape;173;p30"/>
          <p:cNvPicPr preferRelativeResize="0"/>
          <p:nvPr/>
        </p:nvPicPr>
        <p:blipFill rotWithShape="1">
          <a:blip r:embed="rId2">
            <a:alphaModFix/>
          </a:blip>
          <a:srcRect b="0" l="68198" r="3" t="0"/>
          <a:stretch/>
        </p:blipFill>
        <p:spPr>
          <a:xfrm rot="10800000">
            <a:off x="8503500" y="0"/>
            <a:ext cx="640499" cy="51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732775" y="1272225"/>
            <a:ext cx="2840100" cy="305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7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/>
          <p:nvPr>
            <p:ph type="ctrTitle"/>
          </p:nvPr>
        </p:nvSpPr>
        <p:spPr>
          <a:xfrm>
            <a:off x="2876775" y="947050"/>
            <a:ext cx="4892400" cy="134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5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177" name="Google Shape;177;p31"/>
          <p:cNvSpPr txBox="1"/>
          <p:nvPr>
            <p:ph idx="1" type="subTitle"/>
          </p:nvPr>
        </p:nvSpPr>
        <p:spPr>
          <a:xfrm>
            <a:off x="2876775" y="2196872"/>
            <a:ext cx="48924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8" name="Google Shape;178;p31"/>
          <p:cNvSpPr txBox="1"/>
          <p:nvPr>
            <p:ph idx="2" type="subTitle"/>
          </p:nvPr>
        </p:nvSpPr>
        <p:spPr>
          <a:xfrm>
            <a:off x="2876775" y="4123900"/>
            <a:ext cx="4892400" cy="38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31"/>
          <p:cNvSpPr txBox="1"/>
          <p:nvPr/>
        </p:nvSpPr>
        <p:spPr>
          <a:xfrm>
            <a:off x="2876775" y="3612725"/>
            <a:ext cx="4892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b="1" lang="en-GB" sz="12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-GB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b="1" lang="en-GB" sz="12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-GB"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infographics &amp; images by </a:t>
            </a:r>
            <a:r>
              <a:rPr b="1" lang="en-GB" sz="12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pic>
        <p:nvPicPr>
          <p:cNvPr id="180" name="Google Shape;18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9664" y="0"/>
            <a:ext cx="2014201" cy="51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1"/>
          <p:cNvSpPr/>
          <p:nvPr/>
        </p:nvSpPr>
        <p:spPr>
          <a:xfrm>
            <a:off x="0" y="-24000"/>
            <a:ext cx="18108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/>
          <p:nvPr/>
        </p:nvSpPr>
        <p:spPr>
          <a:xfrm rot="5400000">
            <a:off x="4305500" y="308418"/>
            <a:ext cx="536400" cy="91476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33"/>
          <p:cNvGrpSpPr/>
          <p:nvPr/>
        </p:nvGrpSpPr>
        <p:grpSpPr>
          <a:xfrm>
            <a:off x="-571475" y="4622841"/>
            <a:ext cx="10286950" cy="527576"/>
            <a:chOff x="-100" y="4622841"/>
            <a:chExt cx="10286950" cy="527576"/>
          </a:xfrm>
        </p:grpSpPr>
        <p:pic>
          <p:nvPicPr>
            <p:cNvPr id="186" name="Google Shape;186;p33"/>
            <p:cNvPicPr preferRelativeResize="0"/>
            <p:nvPr/>
          </p:nvPicPr>
          <p:blipFill rotWithShape="1">
            <a:blip r:embed="rId2">
              <a:alphaModFix/>
            </a:blip>
            <a:srcRect b="0" l="73809" r="-2" t="0"/>
            <a:stretch/>
          </p:blipFill>
          <p:spPr>
            <a:xfrm rot="5400000">
              <a:off x="2307850" y="2314891"/>
              <a:ext cx="527576" cy="51434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33"/>
            <p:cNvPicPr preferRelativeResize="0"/>
            <p:nvPr/>
          </p:nvPicPr>
          <p:blipFill rotWithShape="1">
            <a:blip r:embed="rId2">
              <a:alphaModFix/>
            </a:blip>
            <a:srcRect b="510" l="73809" r="-2" t="-510"/>
            <a:stretch/>
          </p:blipFill>
          <p:spPr>
            <a:xfrm rot="5400000">
              <a:off x="7451325" y="2314891"/>
              <a:ext cx="527576" cy="51434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1">
  <p:cSld name="BLANK_2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3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90" name="Google Shape;190;p34"/>
            <p:cNvSpPr/>
            <p:nvPr/>
          </p:nvSpPr>
          <p:spPr>
            <a:xfrm>
              <a:off x="597550" y="4893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34"/>
            <p:cNvSpPr/>
            <p:nvPr/>
          </p:nvSpPr>
          <p:spPr>
            <a:xfrm>
              <a:off x="597550" y="4780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34"/>
            <p:cNvSpPr/>
            <p:nvPr/>
          </p:nvSpPr>
          <p:spPr>
            <a:xfrm>
              <a:off x="597550" y="46671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34"/>
            <p:cNvSpPr/>
            <p:nvPr/>
          </p:nvSpPr>
          <p:spPr>
            <a:xfrm>
              <a:off x="597550" y="4553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34"/>
            <p:cNvSpPr/>
            <p:nvPr/>
          </p:nvSpPr>
          <p:spPr>
            <a:xfrm>
              <a:off x="597550" y="4441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34"/>
            <p:cNvSpPr/>
            <p:nvPr/>
          </p:nvSpPr>
          <p:spPr>
            <a:xfrm>
              <a:off x="597550" y="4328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34"/>
            <p:cNvSpPr/>
            <p:nvPr/>
          </p:nvSpPr>
          <p:spPr>
            <a:xfrm>
              <a:off x="597550" y="42150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34"/>
            <p:cNvSpPr/>
            <p:nvPr/>
          </p:nvSpPr>
          <p:spPr>
            <a:xfrm>
              <a:off x="597550" y="4101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34"/>
            <p:cNvSpPr/>
            <p:nvPr/>
          </p:nvSpPr>
          <p:spPr>
            <a:xfrm>
              <a:off x="597550" y="3988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34"/>
            <p:cNvSpPr/>
            <p:nvPr/>
          </p:nvSpPr>
          <p:spPr>
            <a:xfrm>
              <a:off x="597550" y="3875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34"/>
            <p:cNvSpPr/>
            <p:nvPr/>
          </p:nvSpPr>
          <p:spPr>
            <a:xfrm>
              <a:off x="597550" y="3762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34"/>
            <p:cNvSpPr/>
            <p:nvPr/>
          </p:nvSpPr>
          <p:spPr>
            <a:xfrm>
              <a:off x="597550" y="36496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34"/>
            <p:cNvSpPr/>
            <p:nvPr/>
          </p:nvSpPr>
          <p:spPr>
            <a:xfrm>
              <a:off x="597550" y="35364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34"/>
            <p:cNvSpPr/>
            <p:nvPr/>
          </p:nvSpPr>
          <p:spPr>
            <a:xfrm>
              <a:off x="597550" y="34232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34"/>
            <p:cNvSpPr/>
            <p:nvPr/>
          </p:nvSpPr>
          <p:spPr>
            <a:xfrm>
              <a:off x="597550" y="33100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34"/>
            <p:cNvSpPr/>
            <p:nvPr/>
          </p:nvSpPr>
          <p:spPr>
            <a:xfrm>
              <a:off x="597550" y="31967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34"/>
            <p:cNvSpPr/>
            <p:nvPr/>
          </p:nvSpPr>
          <p:spPr>
            <a:xfrm>
              <a:off x="597550" y="30835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34"/>
            <p:cNvSpPr/>
            <p:nvPr/>
          </p:nvSpPr>
          <p:spPr>
            <a:xfrm>
              <a:off x="597550" y="29703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34"/>
            <p:cNvSpPr/>
            <p:nvPr/>
          </p:nvSpPr>
          <p:spPr>
            <a:xfrm>
              <a:off x="597550" y="28578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34"/>
            <p:cNvSpPr/>
            <p:nvPr/>
          </p:nvSpPr>
          <p:spPr>
            <a:xfrm>
              <a:off x="597550" y="27446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34"/>
            <p:cNvSpPr/>
            <p:nvPr/>
          </p:nvSpPr>
          <p:spPr>
            <a:xfrm>
              <a:off x="597550" y="263140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34"/>
            <p:cNvSpPr/>
            <p:nvPr/>
          </p:nvSpPr>
          <p:spPr>
            <a:xfrm>
              <a:off x="597550" y="251817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34"/>
            <p:cNvSpPr/>
            <p:nvPr/>
          </p:nvSpPr>
          <p:spPr>
            <a:xfrm>
              <a:off x="597550" y="24049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34"/>
            <p:cNvSpPr/>
            <p:nvPr/>
          </p:nvSpPr>
          <p:spPr>
            <a:xfrm>
              <a:off x="597550" y="22917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34"/>
            <p:cNvSpPr/>
            <p:nvPr/>
          </p:nvSpPr>
          <p:spPr>
            <a:xfrm>
              <a:off x="597550" y="21792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34"/>
            <p:cNvSpPr/>
            <p:nvPr/>
          </p:nvSpPr>
          <p:spPr>
            <a:xfrm>
              <a:off x="597550" y="20660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34"/>
            <p:cNvSpPr/>
            <p:nvPr/>
          </p:nvSpPr>
          <p:spPr>
            <a:xfrm>
              <a:off x="597550" y="195282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34"/>
            <p:cNvSpPr/>
            <p:nvPr/>
          </p:nvSpPr>
          <p:spPr>
            <a:xfrm>
              <a:off x="597550" y="18396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34"/>
            <p:cNvSpPr/>
            <p:nvPr/>
          </p:nvSpPr>
          <p:spPr>
            <a:xfrm>
              <a:off x="597550" y="17263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4"/>
            <p:cNvSpPr/>
            <p:nvPr/>
          </p:nvSpPr>
          <p:spPr>
            <a:xfrm>
              <a:off x="597550" y="1613150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34"/>
            <p:cNvSpPr/>
            <p:nvPr/>
          </p:nvSpPr>
          <p:spPr>
            <a:xfrm>
              <a:off x="597550" y="1499925"/>
              <a:ext cx="6449225" cy="8400"/>
            </a:xfrm>
            <a:custGeom>
              <a:rect b="b" l="l" r="r" t="t"/>
              <a:pathLst>
                <a:path extrusionOk="0" h="336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34"/>
            <p:cNvSpPr/>
            <p:nvPr/>
          </p:nvSpPr>
          <p:spPr>
            <a:xfrm>
              <a:off x="597550" y="1387475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34"/>
            <p:cNvSpPr/>
            <p:nvPr/>
          </p:nvSpPr>
          <p:spPr>
            <a:xfrm>
              <a:off x="597550" y="1274250"/>
              <a:ext cx="6449225" cy="7625"/>
            </a:xfrm>
            <a:custGeom>
              <a:rect b="b" l="l" r="r" t="t"/>
              <a:pathLst>
                <a:path extrusionOk="0" h="30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4"/>
            <p:cNvSpPr/>
            <p:nvPr/>
          </p:nvSpPr>
          <p:spPr>
            <a:xfrm>
              <a:off x="597550" y="11610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34"/>
            <p:cNvSpPr/>
            <p:nvPr/>
          </p:nvSpPr>
          <p:spPr>
            <a:xfrm>
              <a:off x="597550" y="104780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4"/>
            <p:cNvSpPr/>
            <p:nvPr/>
          </p:nvSpPr>
          <p:spPr>
            <a:xfrm>
              <a:off x="597550" y="93457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34"/>
            <p:cNvSpPr/>
            <p:nvPr/>
          </p:nvSpPr>
          <p:spPr>
            <a:xfrm>
              <a:off x="597550" y="821350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34"/>
            <p:cNvSpPr/>
            <p:nvPr/>
          </p:nvSpPr>
          <p:spPr>
            <a:xfrm>
              <a:off x="597550" y="708125"/>
              <a:ext cx="6449225" cy="8375"/>
            </a:xfrm>
            <a:custGeom>
              <a:rect b="b" l="l" r="r" t="t"/>
              <a:pathLst>
                <a:path extrusionOk="0" h="335" w="257969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8" name="Google Shape;228;p34"/>
          <p:cNvSpPr txBox="1"/>
          <p:nvPr>
            <p:ph type="title"/>
          </p:nvPr>
        </p:nvSpPr>
        <p:spPr>
          <a:xfrm>
            <a:off x="2335650" y="758125"/>
            <a:ext cx="4472700" cy="955500"/>
          </a:xfrm>
          <a:prstGeom prst="rect">
            <a:avLst/>
          </a:prstGeom>
          <a:effectLst>
            <a:outerShdw blurRad="142875" rotWithShape="0" algn="bl">
              <a:schemeClr val="accent2">
                <a:alpha val="40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7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9" name="Google Shape;229;p34"/>
          <p:cNvSpPr txBox="1"/>
          <p:nvPr>
            <p:ph idx="1" type="subTitle"/>
          </p:nvPr>
        </p:nvSpPr>
        <p:spPr>
          <a:xfrm>
            <a:off x="2335650" y="1667300"/>
            <a:ext cx="4472700" cy="111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4"/>
          <p:cNvSpPr txBox="1"/>
          <p:nvPr/>
        </p:nvSpPr>
        <p:spPr>
          <a:xfrm>
            <a:off x="2532450" y="3327757"/>
            <a:ext cx="40791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lang="en-GB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-GB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b="1" lang="en-GB" sz="1200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-GB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icons, infographics &amp; images by </a:t>
            </a:r>
            <a:r>
              <a:rPr b="1" lang="en-GB" sz="1200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1" name="Google Shape;231;p34"/>
          <p:cNvSpPr/>
          <p:nvPr/>
        </p:nvSpPr>
        <p:spPr>
          <a:xfrm rot="10800000">
            <a:off x="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2" name="Google Shape;232;p34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233" name="Google Shape;233;p34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4" name="Google Shape;234;p34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235" name="Google Shape;235;p34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rect b="b" l="l" r="r" t="t"/>
                <a:pathLst>
                  <a:path extrusionOk="0" h="24945" w="15684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34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rect b="b" l="l" r="r" t="t"/>
                <a:pathLst>
                  <a:path extrusionOk="0" h="24945" w="15561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34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34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34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34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rect b="b" l="l" r="r" t="t"/>
                <a:pathLst>
                  <a:path extrusionOk="0" h="24945" w="1556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1" name="Google Shape;241;p34"/>
          <p:cNvGrpSpPr/>
          <p:nvPr/>
        </p:nvGrpSpPr>
        <p:grpSpPr>
          <a:xfrm>
            <a:off x="2618882" y="4981392"/>
            <a:ext cx="1520982" cy="302065"/>
            <a:chOff x="5642557" y="-150670"/>
            <a:chExt cx="1520982" cy="302065"/>
          </a:xfrm>
        </p:grpSpPr>
        <p:sp>
          <p:nvSpPr>
            <p:cNvPr id="242" name="Google Shape;242;p34"/>
            <p:cNvSpPr/>
            <p:nvPr/>
          </p:nvSpPr>
          <p:spPr>
            <a:xfrm>
              <a:off x="5736006" y="-104304"/>
              <a:ext cx="1335611" cy="209364"/>
            </a:xfrm>
            <a:custGeom>
              <a:rect b="b" l="l" r="r" t="t"/>
              <a:pathLst>
                <a:path extrusionOk="0" fill="none" h="6719" w="42863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34"/>
            <p:cNvSpPr/>
            <p:nvPr/>
          </p:nvSpPr>
          <p:spPr>
            <a:xfrm>
              <a:off x="7071586" y="59442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34"/>
            <p:cNvSpPr/>
            <p:nvPr/>
          </p:nvSpPr>
          <p:spPr>
            <a:xfrm>
              <a:off x="7095517" y="84152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34"/>
            <p:cNvSpPr/>
            <p:nvPr/>
          </p:nvSpPr>
          <p:spPr>
            <a:xfrm>
              <a:off x="5642557" y="-150670"/>
              <a:ext cx="91953" cy="92732"/>
            </a:xfrm>
            <a:custGeom>
              <a:rect b="b" l="l" r="r" t="t"/>
              <a:pathLst>
                <a:path extrusionOk="0" fill="none" h="2976" w="2951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34"/>
            <p:cNvSpPr/>
            <p:nvPr/>
          </p:nvSpPr>
          <p:spPr>
            <a:xfrm>
              <a:off x="5666488" y="-125929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7" name="Google Shape;247;p34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48" name="Google Shape;248;p34"/>
            <p:cNvSpPr/>
            <p:nvPr/>
          </p:nvSpPr>
          <p:spPr>
            <a:xfrm>
              <a:off x="4898850" y="4820550"/>
              <a:ext cx="98902" cy="98902"/>
            </a:xfrm>
            <a:custGeom>
              <a:rect b="b" l="l" r="r" t="t"/>
              <a:pathLst>
                <a:path extrusionOk="0" fill="none" h="3174" w="3174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34"/>
            <p:cNvSpPr/>
            <p:nvPr/>
          </p:nvSpPr>
          <p:spPr>
            <a:xfrm>
              <a:off x="4924339" y="4847971"/>
              <a:ext cx="46366" cy="43094"/>
            </a:xfrm>
            <a:custGeom>
              <a:rect b="b" l="l" r="r" t="t"/>
              <a:pathLst>
                <a:path extrusionOk="0" h="1383" w="1488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4"/>
            <p:cNvSpPr/>
            <p:nvPr/>
          </p:nvSpPr>
          <p:spPr>
            <a:xfrm>
              <a:off x="4901935" y="5281687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34"/>
            <p:cNvSpPr/>
            <p:nvPr/>
          </p:nvSpPr>
          <p:spPr>
            <a:xfrm>
              <a:off x="4925866" y="5306428"/>
              <a:ext cx="43281" cy="43281"/>
            </a:xfrm>
            <a:custGeom>
              <a:rect b="b" l="l" r="r" t="t"/>
              <a:pathLst>
                <a:path extrusionOk="0" h="1389" w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4"/>
            <p:cNvSpPr/>
            <p:nvPr/>
          </p:nvSpPr>
          <p:spPr>
            <a:xfrm>
              <a:off x="4942100" y="4917862"/>
              <a:ext cx="31" cy="358465"/>
            </a:xfrm>
            <a:custGeom>
              <a:rect b="b" l="l" r="r" t="t"/>
              <a:pathLst>
                <a:path extrusionOk="0" fill="none" h="11504" w="1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3" name="Google Shape;253;p34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254" name="Google Shape;254;p34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4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6" name="Google Shape;256;p34"/>
          <p:cNvGrpSpPr/>
          <p:nvPr/>
        </p:nvGrpSpPr>
        <p:grpSpPr>
          <a:xfrm flipH="1">
            <a:off x="-529079" y="4313280"/>
            <a:ext cx="1823016" cy="196994"/>
            <a:chOff x="7857346" y="4002005"/>
            <a:chExt cx="1823016" cy="196994"/>
          </a:xfrm>
        </p:grpSpPr>
        <p:sp>
          <p:nvSpPr>
            <p:cNvPr id="257" name="Google Shape;257;p34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34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34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0" name="Google Shape;260;p34"/>
          <p:cNvSpPr/>
          <p:nvPr/>
        </p:nvSpPr>
        <p:spPr>
          <a:xfrm rot="5400000">
            <a:off x="8208384" y="388567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1" name="Google Shape;261;p34"/>
          <p:cNvGrpSpPr/>
          <p:nvPr/>
        </p:nvGrpSpPr>
        <p:grpSpPr>
          <a:xfrm>
            <a:off x="5202992" y="4687341"/>
            <a:ext cx="1105976" cy="133969"/>
            <a:chOff x="8183182" y="663852"/>
            <a:chExt cx="1475028" cy="178673"/>
          </a:xfrm>
        </p:grpSpPr>
        <p:grpSp>
          <p:nvGrpSpPr>
            <p:cNvPr id="262" name="Google Shape;262;p3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63" name="Google Shape;263;p3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3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3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3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3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3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3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3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3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3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3" name="Google Shape;273;p3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74" name="Google Shape;274;p3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3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3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3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3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3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3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3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3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3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84" name="Google Shape;284;p34"/>
          <p:cNvSpPr/>
          <p:nvPr/>
        </p:nvSpPr>
        <p:spPr>
          <a:xfrm rot="10800000">
            <a:off x="8027645" y="2174179"/>
            <a:ext cx="1994700" cy="68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5" name="Google Shape;285;p34"/>
          <p:cNvGrpSpPr/>
          <p:nvPr/>
        </p:nvGrpSpPr>
        <p:grpSpPr>
          <a:xfrm rot="-5400000">
            <a:off x="7172708" y="384980"/>
            <a:ext cx="1823016" cy="296643"/>
            <a:chOff x="7857346" y="3902355"/>
            <a:chExt cx="1823016" cy="296643"/>
          </a:xfrm>
        </p:grpSpPr>
        <p:sp>
          <p:nvSpPr>
            <p:cNvPr id="286" name="Google Shape;286;p34"/>
            <p:cNvSpPr/>
            <p:nvPr/>
          </p:nvSpPr>
          <p:spPr>
            <a:xfrm>
              <a:off x="7956216" y="4048371"/>
              <a:ext cx="1724145" cy="150627"/>
            </a:xfrm>
            <a:custGeom>
              <a:rect b="b" l="l" r="r" t="t"/>
              <a:pathLst>
                <a:path extrusionOk="0" fill="none" h="4834" w="55332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34"/>
            <p:cNvSpPr/>
            <p:nvPr/>
          </p:nvSpPr>
          <p:spPr>
            <a:xfrm>
              <a:off x="8453686" y="390235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34"/>
            <p:cNvSpPr/>
            <p:nvPr/>
          </p:nvSpPr>
          <p:spPr>
            <a:xfrm>
              <a:off x="8478396" y="3927096"/>
              <a:ext cx="43281" cy="42502"/>
            </a:xfrm>
            <a:custGeom>
              <a:rect b="b" l="l" r="r" t="t"/>
              <a:pathLst>
                <a:path extrusionOk="0" h="1364" w="1389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34"/>
            <p:cNvSpPr/>
            <p:nvPr/>
          </p:nvSpPr>
          <p:spPr>
            <a:xfrm>
              <a:off x="7857346" y="4002005"/>
              <a:ext cx="91953" cy="91953"/>
            </a:xfrm>
            <a:custGeom>
              <a:rect b="b" l="l" r="r" t="t"/>
              <a:pathLst>
                <a:path extrusionOk="0" fill="none" h="2951" w="2951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4"/>
            <p:cNvSpPr/>
            <p:nvPr/>
          </p:nvSpPr>
          <p:spPr>
            <a:xfrm>
              <a:off x="7882087" y="4026715"/>
              <a:ext cx="43281" cy="42533"/>
            </a:xfrm>
            <a:custGeom>
              <a:rect b="b" l="l" r="r" t="t"/>
              <a:pathLst>
                <a:path extrusionOk="0" h="1365" w="1389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4"/>
            <p:cNvSpPr/>
            <p:nvPr/>
          </p:nvSpPr>
          <p:spPr>
            <a:xfrm>
              <a:off x="8545608" y="3948721"/>
              <a:ext cx="1134754" cy="175368"/>
            </a:xfrm>
            <a:custGeom>
              <a:rect b="b" l="l" r="r" t="t"/>
              <a:pathLst>
                <a:path extrusionOk="0" fill="none" h="5628" w="36417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cap="rnd" cmpd="sng" w="1905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2" name="Google Shape;292;p34"/>
          <p:cNvGrpSpPr/>
          <p:nvPr/>
        </p:nvGrpSpPr>
        <p:grpSpPr>
          <a:xfrm>
            <a:off x="8267392" y="2926266"/>
            <a:ext cx="1105976" cy="133969"/>
            <a:chOff x="8183182" y="663852"/>
            <a:chExt cx="1475028" cy="178673"/>
          </a:xfrm>
        </p:grpSpPr>
        <p:grpSp>
          <p:nvGrpSpPr>
            <p:cNvPr id="293" name="Google Shape;293;p3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94" name="Google Shape;294;p3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3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3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3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3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3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3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3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3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3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4" name="Google Shape;304;p3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305" name="Google Shape;305;p3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3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3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3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3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3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3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3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3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3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15" name="Google Shape;315;p34"/>
          <p:cNvGrpSpPr/>
          <p:nvPr/>
        </p:nvGrpSpPr>
        <p:grpSpPr>
          <a:xfrm>
            <a:off x="2360001" y="376081"/>
            <a:ext cx="1252897" cy="51000"/>
            <a:chOff x="2915381" y="4104819"/>
            <a:chExt cx="1252897" cy="51000"/>
          </a:xfrm>
        </p:grpSpPr>
        <p:sp>
          <p:nvSpPr>
            <p:cNvPr id="316" name="Google Shape;316;p3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3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3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3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3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3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3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3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 SemiBold"/>
              <a:buNone/>
              <a:defRPr sz="3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 SemiBold"/>
              <a:buNone/>
              <a:defRPr sz="3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 SemiBold"/>
              <a:buNone/>
              <a:defRPr sz="3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 SemiBold"/>
              <a:buNone/>
              <a:defRPr sz="3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 SemiBold"/>
              <a:buNone/>
              <a:defRPr sz="3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 SemiBold"/>
              <a:buNone/>
              <a:defRPr sz="3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 SemiBold"/>
              <a:buNone/>
              <a:defRPr sz="3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 SemiBold"/>
              <a:buNone/>
              <a:defRPr sz="3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nybody SemiBold"/>
              <a:buNone/>
              <a:defRPr sz="3000">
                <a:solidFill>
                  <a:schemeClr val="dk1"/>
                </a:solidFill>
                <a:latin typeface="Anybody SemiBold"/>
                <a:ea typeface="Anybody SemiBold"/>
                <a:cs typeface="Anybody SemiBold"/>
                <a:sym typeface="Anybody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kaggle.com/datasets/timchant/supstore-dataset-2019-2022/data" TargetMode="External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6.png"/><Relationship Id="rId4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5"/>
          <p:cNvSpPr txBox="1"/>
          <p:nvPr>
            <p:ph type="ctrTitle"/>
          </p:nvPr>
        </p:nvSpPr>
        <p:spPr>
          <a:xfrm>
            <a:off x="2848150" y="689462"/>
            <a:ext cx="4892400" cy="271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Final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 4 Project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35" name="Google Shape;335;p35"/>
          <p:cNvSpPr txBox="1"/>
          <p:nvPr>
            <p:ph idx="1" type="subTitle"/>
          </p:nvPr>
        </p:nvSpPr>
        <p:spPr>
          <a:xfrm>
            <a:off x="6089425" y="3837125"/>
            <a:ext cx="2334600" cy="73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Chunyu Huang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Guoming Lin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Thuan Bui</a:t>
            </a:r>
            <a:endParaRPr/>
          </a:p>
        </p:txBody>
      </p:sp>
      <p:cxnSp>
        <p:nvCxnSpPr>
          <p:cNvPr id="336" name="Google Shape;336;p35"/>
          <p:cNvCxnSpPr/>
          <p:nvPr/>
        </p:nvCxnSpPr>
        <p:spPr>
          <a:xfrm>
            <a:off x="2468800" y="3562475"/>
            <a:ext cx="5966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37" name="Google Shape;337;p35"/>
          <p:cNvGrpSpPr/>
          <p:nvPr/>
        </p:nvGrpSpPr>
        <p:grpSpPr>
          <a:xfrm>
            <a:off x="8222574" y="355031"/>
            <a:ext cx="402866" cy="369933"/>
            <a:chOff x="6985538" y="307000"/>
            <a:chExt cx="1545325" cy="1419000"/>
          </a:xfrm>
        </p:grpSpPr>
        <p:sp>
          <p:nvSpPr>
            <p:cNvPr id="338" name="Google Shape;338;p35"/>
            <p:cNvSpPr/>
            <p:nvPr/>
          </p:nvSpPr>
          <p:spPr>
            <a:xfrm>
              <a:off x="7441700" y="10165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5"/>
            <p:cNvSpPr/>
            <p:nvPr/>
          </p:nvSpPr>
          <p:spPr>
            <a:xfrm rot="10800000">
              <a:off x="7441750" y="3070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5"/>
            <p:cNvSpPr/>
            <p:nvPr/>
          </p:nvSpPr>
          <p:spPr>
            <a:xfrm rot="3599744">
              <a:off x="7134528" y="8390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5"/>
            <p:cNvSpPr/>
            <p:nvPr/>
          </p:nvSpPr>
          <p:spPr>
            <a:xfrm rot="-7200256">
              <a:off x="7748953" y="4845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5"/>
            <p:cNvSpPr/>
            <p:nvPr/>
          </p:nvSpPr>
          <p:spPr>
            <a:xfrm rot="7200256">
              <a:off x="7134541" y="4844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5"/>
            <p:cNvSpPr/>
            <p:nvPr/>
          </p:nvSpPr>
          <p:spPr>
            <a:xfrm rot="-3599744">
              <a:off x="7748916" y="8391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44" name="Google Shape;34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664" y="0"/>
            <a:ext cx="2014201" cy="51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5"/>
          <p:cNvSpPr/>
          <p:nvPr/>
        </p:nvSpPr>
        <p:spPr>
          <a:xfrm>
            <a:off x="0" y="-24000"/>
            <a:ext cx="18108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6"/>
          <p:cNvSpPr txBox="1"/>
          <p:nvPr>
            <p:ph idx="14" type="title"/>
          </p:nvPr>
        </p:nvSpPr>
        <p:spPr>
          <a:xfrm>
            <a:off x="943975" y="2047149"/>
            <a:ext cx="775800" cy="7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/>
          </a:p>
        </p:txBody>
      </p:sp>
      <p:sp>
        <p:nvSpPr>
          <p:cNvPr id="351" name="Google Shape;351;p36"/>
          <p:cNvSpPr txBox="1"/>
          <p:nvPr>
            <p:ph idx="15" type="title"/>
          </p:nvPr>
        </p:nvSpPr>
        <p:spPr>
          <a:xfrm>
            <a:off x="943975" y="3844823"/>
            <a:ext cx="775800" cy="7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  <a:endParaRPr/>
          </a:p>
        </p:txBody>
      </p:sp>
      <p:sp>
        <p:nvSpPr>
          <p:cNvPr id="352" name="Google Shape;352;p36"/>
          <p:cNvSpPr txBox="1"/>
          <p:nvPr>
            <p:ph idx="13" type="title"/>
          </p:nvPr>
        </p:nvSpPr>
        <p:spPr>
          <a:xfrm>
            <a:off x="943975" y="2945986"/>
            <a:ext cx="775800" cy="7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  <a:endParaRPr/>
          </a:p>
        </p:txBody>
      </p:sp>
      <p:sp>
        <p:nvSpPr>
          <p:cNvPr id="353" name="Google Shape;353;p36"/>
          <p:cNvSpPr txBox="1"/>
          <p:nvPr>
            <p:ph idx="9" type="title"/>
          </p:nvPr>
        </p:nvSpPr>
        <p:spPr>
          <a:xfrm>
            <a:off x="943975" y="1148312"/>
            <a:ext cx="775800" cy="7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/>
          </a:p>
        </p:txBody>
      </p:sp>
      <p:sp>
        <p:nvSpPr>
          <p:cNvPr id="354" name="Google Shape;354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/>
              <a:t>Agenda</a:t>
            </a:r>
            <a:endParaRPr sz="3000"/>
          </a:p>
        </p:txBody>
      </p:sp>
      <p:sp>
        <p:nvSpPr>
          <p:cNvPr id="355" name="Google Shape;355;p36"/>
          <p:cNvSpPr txBox="1"/>
          <p:nvPr>
            <p:ph idx="2" type="title"/>
          </p:nvPr>
        </p:nvSpPr>
        <p:spPr>
          <a:xfrm>
            <a:off x="1872275" y="1330862"/>
            <a:ext cx="3879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/>
          </a:p>
        </p:txBody>
      </p:sp>
      <p:sp>
        <p:nvSpPr>
          <p:cNvPr id="356" name="Google Shape;356;p36"/>
          <p:cNvSpPr txBox="1"/>
          <p:nvPr>
            <p:ph idx="3" type="title"/>
          </p:nvPr>
        </p:nvSpPr>
        <p:spPr>
          <a:xfrm>
            <a:off x="1872275" y="2229699"/>
            <a:ext cx="3879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Business Rules</a:t>
            </a:r>
            <a:endParaRPr/>
          </a:p>
        </p:txBody>
      </p:sp>
      <p:sp>
        <p:nvSpPr>
          <p:cNvPr id="357" name="Google Shape;357;p36"/>
          <p:cNvSpPr txBox="1"/>
          <p:nvPr>
            <p:ph idx="5" type="title"/>
          </p:nvPr>
        </p:nvSpPr>
        <p:spPr>
          <a:xfrm>
            <a:off x="1872275" y="3128536"/>
            <a:ext cx="3879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EDA</a:t>
            </a:r>
            <a:endParaRPr/>
          </a:p>
        </p:txBody>
      </p:sp>
      <p:sp>
        <p:nvSpPr>
          <p:cNvPr id="358" name="Google Shape;358;p36"/>
          <p:cNvSpPr txBox="1"/>
          <p:nvPr>
            <p:ph idx="6" type="title"/>
          </p:nvPr>
        </p:nvSpPr>
        <p:spPr>
          <a:xfrm>
            <a:off x="1872275" y="4027373"/>
            <a:ext cx="3879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ERD Model</a:t>
            </a:r>
            <a:endParaRPr/>
          </a:p>
        </p:txBody>
      </p:sp>
      <p:cxnSp>
        <p:nvCxnSpPr>
          <p:cNvPr id="359" name="Google Shape;359;p36"/>
          <p:cNvCxnSpPr/>
          <p:nvPr/>
        </p:nvCxnSpPr>
        <p:spPr>
          <a:xfrm>
            <a:off x="894450" y="1977675"/>
            <a:ext cx="730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36"/>
          <p:cNvCxnSpPr/>
          <p:nvPr/>
        </p:nvCxnSpPr>
        <p:spPr>
          <a:xfrm>
            <a:off x="894450" y="2876316"/>
            <a:ext cx="730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36"/>
          <p:cNvCxnSpPr/>
          <p:nvPr/>
        </p:nvCxnSpPr>
        <p:spPr>
          <a:xfrm>
            <a:off x="894450" y="3774957"/>
            <a:ext cx="730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62" name="Google Shape;362;p36"/>
          <p:cNvGrpSpPr/>
          <p:nvPr/>
        </p:nvGrpSpPr>
        <p:grpSpPr>
          <a:xfrm>
            <a:off x="518561" y="4418531"/>
            <a:ext cx="402866" cy="369933"/>
            <a:chOff x="6985538" y="307000"/>
            <a:chExt cx="1545325" cy="1419000"/>
          </a:xfrm>
        </p:grpSpPr>
        <p:sp>
          <p:nvSpPr>
            <p:cNvPr id="363" name="Google Shape;363;p36"/>
            <p:cNvSpPr/>
            <p:nvPr/>
          </p:nvSpPr>
          <p:spPr>
            <a:xfrm>
              <a:off x="7441700" y="10165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36"/>
            <p:cNvSpPr/>
            <p:nvPr/>
          </p:nvSpPr>
          <p:spPr>
            <a:xfrm rot="10800000">
              <a:off x="7441750" y="3070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36"/>
            <p:cNvSpPr/>
            <p:nvPr/>
          </p:nvSpPr>
          <p:spPr>
            <a:xfrm rot="3599744">
              <a:off x="7134528" y="8390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36"/>
            <p:cNvSpPr/>
            <p:nvPr/>
          </p:nvSpPr>
          <p:spPr>
            <a:xfrm rot="-7200256">
              <a:off x="7748953" y="4845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6"/>
            <p:cNvSpPr/>
            <p:nvPr/>
          </p:nvSpPr>
          <p:spPr>
            <a:xfrm rot="7200256">
              <a:off x="7134541" y="4844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6"/>
            <p:cNvSpPr/>
            <p:nvPr/>
          </p:nvSpPr>
          <p:spPr>
            <a:xfrm rot="-3599744">
              <a:off x="7748916" y="8391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idx="14" type="title"/>
          </p:nvPr>
        </p:nvSpPr>
        <p:spPr>
          <a:xfrm>
            <a:off x="943975" y="2047149"/>
            <a:ext cx="775800" cy="7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06</a:t>
            </a:r>
            <a:endParaRPr/>
          </a:p>
        </p:txBody>
      </p:sp>
      <p:sp>
        <p:nvSpPr>
          <p:cNvPr id="374" name="Google Shape;374;p37"/>
          <p:cNvSpPr txBox="1"/>
          <p:nvPr>
            <p:ph idx="13" type="title"/>
          </p:nvPr>
        </p:nvSpPr>
        <p:spPr>
          <a:xfrm>
            <a:off x="943975" y="2945986"/>
            <a:ext cx="775800" cy="7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07</a:t>
            </a:r>
            <a:endParaRPr/>
          </a:p>
        </p:txBody>
      </p:sp>
      <p:sp>
        <p:nvSpPr>
          <p:cNvPr id="375" name="Google Shape;375;p37"/>
          <p:cNvSpPr txBox="1"/>
          <p:nvPr>
            <p:ph idx="9" type="title"/>
          </p:nvPr>
        </p:nvSpPr>
        <p:spPr>
          <a:xfrm>
            <a:off x="943975" y="1148312"/>
            <a:ext cx="775800" cy="7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05</a:t>
            </a:r>
            <a:endParaRPr/>
          </a:p>
        </p:txBody>
      </p:sp>
      <p:sp>
        <p:nvSpPr>
          <p:cNvPr id="376" name="Google Shape;376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Agenda</a:t>
            </a:r>
            <a:endParaRPr/>
          </a:p>
        </p:txBody>
      </p:sp>
      <p:sp>
        <p:nvSpPr>
          <p:cNvPr id="377" name="Google Shape;377;p37"/>
          <p:cNvSpPr txBox="1"/>
          <p:nvPr>
            <p:ph idx="2" type="title"/>
          </p:nvPr>
        </p:nvSpPr>
        <p:spPr>
          <a:xfrm>
            <a:off x="1872275" y="1330862"/>
            <a:ext cx="3879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Warehouse</a:t>
            </a:r>
            <a:endParaRPr/>
          </a:p>
        </p:txBody>
      </p:sp>
      <p:sp>
        <p:nvSpPr>
          <p:cNvPr id="378" name="Google Shape;378;p37"/>
          <p:cNvSpPr txBox="1"/>
          <p:nvPr>
            <p:ph idx="3" type="title"/>
          </p:nvPr>
        </p:nvSpPr>
        <p:spPr>
          <a:xfrm>
            <a:off x="1872275" y="2230199"/>
            <a:ext cx="3879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Insight and recommendation</a:t>
            </a:r>
            <a:endParaRPr/>
          </a:p>
        </p:txBody>
      </p:sp>
      <p:sp>
        <p:nvSpPr>
          <p:cNvPr id="379" name="Google Shape;379;p37"/>
          <p:cNvSpPr txBox="1"/>
          <p:nvPr>
            <p:ph idx="5" type="title"/>
          </p:nvPr>
        </p:nvSpPr>
        <p:spPr>
          <a:xfrm>
            <a:off x="1872275" y="3128536"/>
            <a:ext cx="3879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Future Work</a:t>
            </a:r>
            <a:endParaRPr/>
          </a:p>
        </p:txBody>
      </p:sp>
      <p:cxnSp>
        <p:nvCxnSpPr>
          <p:cNvPr id="380" name="Google Shape;380;p37"/>
          <p:cNvCxnSpPr/>
          <p:nvPr/>
        </p:nvCxnSpPr>
        <p:spPr>
          <a:xfrm>
            <a:off x="894450" y="1977675"/>
            <a:ext cx="730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37"/>
          <p:cNvCxnSpPr/>
          <p:nvPr/>
        </p:nvCxnSpPr>
        <p:spPr>
          <a:xfrm>
            <a:off x="894450" y="2876316"/>
            <a:ext cx="730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37"/>
          <p:cNvCxnSpPr/>
          <p:nvPr/>
        </p:nvCxnSpPr>
        <p:spPr>
          <a:xfrm>
            <a:off x="894450" y="3774957"/>
            <a:ext cx="7306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83" name="Google Shape;383;p37"/>
          <p:cNvGrpSpPr/>
          <p:nvPr/>
        </p:nvGrpSpPr>
        <p:grpSpPr>
          <a:xfrm>
            <a:off x="518561" y="4418531"/>
            <a:ext cx="402866" cy="369933"/>
            <a:chOff x="6985538" y="307000"/>
            <a:chExt cx="1545325" cy="1419000"/>
          </a:xfrm>
        </p:grpSpPr>
        <p:sp>
          <p:nvSpPr>
            <p:cNvPr id="384" name="Google Shape;384;p37"/>
            <p:cNvSpPr/>
            <p:nvPr/>
          </p:nvSpPr>
          <p:spPr>
            <a:xfrm>
              <a:off x="7441700" y="10165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37"/>
            <p:cNvSpPr/>
            <p:nvPr/>
          </p:nvSpPr>
          <p:spPr>
            <a:xfrm rot="10800000">
              <a:off x="7441750" y="3070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7"/>
            <p:cNvSpPr/>
            <p:nvPr/>
          </p:nvSpPr>
          <p:spPr>
            <a:xfrm rot="3599744">
              <a:off x="7134528" y="8390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7"/>
            <p:cNvSpPr/>
            <p:nvPr/>
          </p:nvSpPr>
          <p:spPr>
            <a:xfrm rot="-7200256">
              <a:off x="7748953" y="4845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37"/>
            <p:cNvSpPr/>
            <p:nvPr/>
          </p:nvSpPr>
          <p:spPr>
            <a:xfrm rot="7200256">
              <a:off x="7134541" y="4844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37"/>
            <p:cNvSpPr/>
            <p:nvPr/>
          </p:nvSpPr>
          <p:spPr>
            <a:xfrm rot="-3599744">
              <a:off x="7748916" y="8391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u="sng"/>
              <a:t>1. Introduction</a:t>
            </a:r>
            <a:endParaRPr/>
          </a:p>
        </p:txBody>
      </p:sp>
      <p:sp>
        <p:nvSpPr>
          <p:cNvPr id="395" name="Google Shape;395;p38"/>
          <p:cNvSpPr txBox="1"/>
          <p:nvPr>
            <p:ph idx="1" type="body"/>
          </p:nvPr>
        </p:nvSpPr>
        <p:spPr>
          <a:xfrm>
            <a:off x="53600" y="1115600"/>
            <a:ext cx="8520600" cy="37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About the SuperStore: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/>
              <a:t>Retail dataset tracking U.S. sales, customer behavior, product trends, and regional data. Real transaction records support inventory planning and regional performance analysis. </a:t>
            </a:r>
            <a:r>
              <a:rPr lang="en-GB" sz="1300"/>
              <a:t>The dataset contains 9,994 order records with detailed financial metrics.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highlight>
                  <a:schemeClr val="lt1"/>
                </a:highlight>
              </a:rPr>
              <a:t>Ch</a:t>
            </a:r>
            <a:r>
              <a:rPr lang="en-GB" sz="1300">
                <a:highlight>
                  <a:schemeClr val="lt1"/>
                </a:highlight>
              </a:rPr>
              <a:t>allenge:</a:t>
            </a:r>
            <a:endParaRPr sz="1300">
              <a:highlight>
                <a:schemeClr val="lt1"/>
              </a:highlight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 sz="1300">
                <a:highlight>
                  <a:schemeClr val="lt1"/>
                </a:highlight>
              </a:rPr>
              <a:t>Profitability gaps (high-sales products with low margins).</a:t>
            </a:r>
            <a:endParaRPr sz="1300">
              <a:highlight>
                <a:schemeClr val="lt1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>
                <a:highlight>
                  <a:schemeClr val="lt1"/>
                </a:highlight>
              </a:rPr>
              <a:t>Customer retention opportunities (loyal buyers vs. one-time purchasers).</a:t>
            </a:r>
            <a:endParaRPr sz="1300"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highlight>
                  <a:schemeClr val="lt1"/>
                </a:highlight>
              </a:rPr>
              <a:t>Goal:</a:t>
            </a:r>
            <a:endParaRPr sz="1300">
              <a:highlight>
                <a:schemeClr val="lt1"/>
              </a:highlight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 sz="1300">
                <a:highlight>
                  <a:schemeClr val="lt1"/>
                </a:highlight>
              </a:rPr>
              <a:t>To improve operation and financial performance this SuperStore.</a:t>
            </a:r>
            <a:endParaRPr sz="1300">
              <a:highlight>
                <a:schemeClr val="lt1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GB" sz="1300">
                <a:highlight>
                  <a:schemeClr val="lt1"/>
                </a:highlight>
              </a:rPr>
              <a:t>Discount vs. Profit analyst.</a:t>
            </a:r>
            <a:endParaRPr sz="130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AutoNum type="arabicPeriod"/>
            </a:pPr>
            <a:r>
              <a:rPr lang="en-GB"/>
              <a:t>Introduction</a:t>
            </a:r>
            <a:endParaRPr/>
          </a:p>
        </p:txBody>
      </p:sp>
      <p:sp>
        <p:nvSpPr>
          <p:cNvPr id="401" name="Google Shape;401;p39"/>
          <p:cNvSpPr txBox="1"/>
          <p:nvPr>
            <p:ph idx="1" type="body"/>
          </p:nvPr>
        </p:nvSpPr>
        <p:spPr>
          <a:xfrm>
            <a:off x="720000" y="1203200"/>
            <a:ext cx="7704000" cy="3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/>
              <a:t>Approach: 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GB" sz="1300"/>
              <a:t>SQL, SSIS, PowerBI, R programming, Python and Excel.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/>
              <a:t>We found the website on Kaggle.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 u="sng">
                <a:solidFill>
                  <a:schemeClr val="hlink"/>
                </a:solidFill>
                <a:hlinkClick r:id="rId3"/>
              </a:rPr>
              <a:t>https://www.kaggle.com/datasets/timchant/supstore-dataset-2019-2022/data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</p:txBody>
      </p:sp>
      <p:pic>
        <p:nvPicPr>
          <p:cNvPr id="402" name="Google Shape;40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000" y="2749100"/>
            <a:ext cx="4901225" cy="21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0"/>
          <p:cNvSpPr txBox="1"/>
          <p:nvPr>
            <p:ph type="title"/>
          </p:nvPr>
        </p:nvSpPr>
        <p:spPr>
          <a:xfrm>
            <a:off x="351300" y="1869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2. Business Rule</a:t>
            </a:r>
            <a:endParaRPr/>
          </a:p>
        </p:txBody>
      </p:sp>
      <p:sp>
        <p:nvSpPr>
          <p:cNvPr id="408" name="Google Shape;408;p40"/>
          <p:cNvSpPr txBox="1"/>
          <p:nvPr>
            <p:ph idx="1" type="body"/>
          </p:nvPr>
        </p:nvSpPr>
        <p:spPr>
          <a:xfrm>
            <a:off x="351300" y="935875"/>
            <a:ext cx="7704000" cy="3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-GB" sz="1400"/>
              <a:t>Customers and Segments</a:t>
            </a:r>
            <a:endParaRPr b="1" sz="1400"/>
          </a:p>
          <a:p>
            <a:pPr indent="-317500" lvl="0" marL="9144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Each </a:t>
            </a:r>
            <a:r>
              <a:rPr b="1" lang="en-GB" sz="1400"/>
              <a:t>customer</a:t>
            </a:r>
            <a:r>
              <a:rPr lang="en-GB" sz="1400"/>
              <a:t> belongs to a </a:t>
            </a:r>
            <a:r>
              <a:rPr b="1" lang="en-GB" sz="1400"/>
              <a:t>segment</a:t>
            </a:r>
            <a:r>
              <a:rPr lang="en-GB" sz="1400"/>
              <a:t> that classifies their type (e.g., consumer, corporate)</a:t>
            </a:r>
            <a:endParaRPr sz="1400"/>
          </a:p>
          <a:p>
            <a:pPr indent="-317500" lvl="0" marL="9144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-GB" sz="1400"/>
              <a:t>Customers</a:t>
            </a:r>
            <a:r>
              <a:rPr lang="en-GB" sz="1400"/>
              <a:t> must be linked to a </a:t>
            </a:r>
            <a:r>
              <a:rPr b="1" lang="en-GB" sz="1400"/>
              <a:t>location</a:t>
            </a:r>
            <a:r>
              <a:rPr lang="en-GB" sz="1400"/>
              <a:t> that includes details like </a:t>
            </a:r>
            <a:r>
              <a:rPr b="1" lang="en-GB" sz="1400"/>
              <a:t>ZIP code</a:t>
            </a:r>
            <a:r>
              <a:rPr lang="en-GB" sz="1400"/>
              <a:t>, </a:t>
            </a:r>
            <a:r>
              <a:rPr b="1" lang="en-GB" sz="1400"/>
              <a:t>region</a:t>
            </a:r>
            <a:r>
              <a:rPr lang="en-GB" sz="1400"/>
              <a:t>, </a:t>
            </a:r>
            <a:r>
              <a:rPr b="1" lang="en-GB" sz="1400"/>
              <a:t>city</a:t>
            </a:r>
            <a:r>
              <a:rPr lang="en-GB" sz="1400"/>
              <a:t>, </a:t>
            </a:r>
            <a:r>
              <a:rPr b="1" lang="en-GB" sz="1400"/>
              <a:t>state</a:t>
            </a:r>
            <a:r>
              <a:rPr lang="en-GB" sz="1400"/>
              <a:t>, and </a:t>
            </a:r>
            <a:r>
              <a:rPr b="1" lang="en-GB" sz="1400"/>
              <a:t>country</a:t>
            </a:r>
            <a:endParaRPr b="1" sz="1400"/>
          </a:p>
          <a:p>
            <a:pPr indent="-31750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-GB" sz="1400"/>
              <a:t>Orders</a:t>
            </a:r>
            <a:endParaRPr b="1" sz="1400"/>
          </a:p>
          <a:p>
            <a:pPr indent="-317500" lvl="0" marL="9144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A </a:t>
            </a:r>
            <a:r>
              <a:rPr b="1" lang="en-GB" sz="1400"/>
              <a:t>customer</a:t>
            </a:r>
            <a:r>
              <a:rPr lang="en-GB" sz="1400"/>
              <a:t> can place multiple </a:t>
            </a:r>
            <a:r>
              <a:rPr b="1" lang="en-GB" sz="1400"/>
              <a:t>orders</a:t>
            </a:r>
            <a:endParaRPr sz="1400"/>
          </a:p>
          <a:p>
            <a:pPr indent="-317500" lvl="0" marL="9144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An </a:t>
            </a:r>
            <a:r>
              <a:rPr b="1" lang="en-GB" sz="1400"/>
              <a:t>order</a:t>
            </a:r>
            <a:r>
              <a:rPr lang="en-GB" sz="1400"/>
              <a:t> can have one or multiple </a:t>
            </a:r>
            <a:r>
              <a:rPr b="1" lang="en-GB" sz="1400"/>
              <a:t>products</a:t>
            </a:r>
            <a:r>
              <a:rPr lang="en-GB" sz="1400"/>
              <a:t> from a </a:t>
            </a:r>
            <a:r>
              <a:rPr b="1" lang="en-GB" sz="1400"/>
              <a:t>customer</a:t>
            </a:r>
            <a:endParaRPr b="1" sz="1400"/>
          </a:p>
          <a:p>
            <a:pPr indent="-317500" lvl="0" marL="9144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Each </a:t>
            </a:r>
            <a:r>
              <a:rPr b="1" lang="en-GB" sz="1400"/>
              <a:t>order</a:t>
            </a:r>
            <a:r>
              <a:rPr lang="en-GB" sz="1400"/>
              <a:t> includes the </a:t>
            </a:r>
            <a:r>
              <a:rPr b="1" lang="en-GB" sz="1400"/>
              <a:t>order date</a:t>
            </a:r>
            <a:r>
              <a:rPr lang="en-GB" sz="1400"/>
              <a:t> and </a:t>
            </a:r>
            <a:r>
              <a:rPr b="1" lang="en-GB" sz="1400"/>
              <a:t>ship date</a:t>
            </a:r>
            <a:endParaRPr b="1" sz="1400"/>
          </a:p>
          <a:p>
            <a:pPr indent="-317500" lvl="0" marL="4572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-GB" sz="1400"/>
              <a:t>Products and Manufacturer</a:t>
            </a:r>
            <a:endParaRPr b="1" sz="1400"/>
          </a:p>
          <a:p>
            <a:pPr indent="-317500" lvl="0" marL="9144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Each </a:t>
            </a:r>
            <a:r>
              <a:rPr b="1" lang="en-GB" sz="1400"/>
              <a:t>product</a:t>
            </a:r>
            <a:r>
              <a:rPr lang="en-GB" sz="1400"/>
              <a:t> is assigned to one </a:t>
            </a:r>
            <a:r>
              <a:rPr b="1" lang="en-GB" sz="1400"/>
              <a:t>sub-category</a:t>
            </a:r>
            <a:r>
              <a:rPr lang="en-GB" sz="1400"/>
              <a:t> and one </a:t>
            </a:r>
            <a:r>
              <a:rPr b="1" lang="en-GB" sz="1400"/>
              <a:t>manufacturer</a:t>
            </a:r>
            <a:r>
              <a:rPr lang="en-GB" sz="1400"/>
              <a:t>.</a:t>
            </a:r>
            <a:endParaRPr sz="1400"/>
          </a:p>
          <a:p>
            <a:pPr indent="-317500" lvl="0" marL="9144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A </a:t>
            </a:r>
            <a:r>
              <a:rPr b="1" lang="en-GB" sz="1400"/>
              <a:t>manufacturer</a:t>
            </a:r>
            <a:r>
              <a:rPr lang="en-GB" sz="1400"/>
              <a:t> can create one or multiple </a:t>
            </a:r>
            <a:r>
              <a:rPr b="1" lang="en-GB" sz="1400"/>
              <a:t>products</a:t>
            </a:r>
            <a:r>
              <a:rPr lang="en-GB" sz="1400"/>
              <a:t>.</a:t>
            </a:r>
            <a:endParaRPr sz="1400"/>
          </a:p>
          <a:p>
            <a:pPr indent="-317500" lvl="0" marL="9144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Products have a </a:t>
            </a:r>
            <a:r>
              <a:rPr b="1" lang="en-GB" sz="1400"/>
              <a:t>name</a:t>
            </a:r>
            <a:r>
              <a:rPr lang="en-GB" sz="1400"/>
              <a:t> and are uniquely identified by a </a:t>
            </a:r>
            <a:r>
              <a:rPr b="1" lang="en-GB" sz="1400"/>
              <a:t>Product ID</a:t>
            </a:r>
            <a:r>
              <a:rPr lang="en-GB" sz="1400"/>
              <a:t>.</a:t>
            </a:r>
            <a:endParaRPr b="1" sz="1400"/>
          </a:p>
          <a:p>
            <a:pPr indent="0" lvl="0" marL="0" rtl="0" algn="l">
              <a:lnSpc>
                <a:spcPct val="115833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b="1"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2. </a:t>
            </a:r>
            <a:r>
              <a:rPr lang="en-GB"/>
              <a:t>Business Rule</a:t>
            </a:r>
            <a:endParaRPr/>
          </a:p>
        </p:txBody>
      </p:sp>
      <p:sp>
        <p:nvSpPr>
          <p:cNvPr id="414" name="Google Shape;414;p41"/>
          <p:cNvSpPr txBox="1"/>
          <p:nvPr>
            <p:ph idx="1" type="body"/>
          </p:nvPr>
        </p:nvSpPr>
        <p:spPr>
          <a:xfrm>
            <a:off x="720000" y="1203200"/>
            <a:ext cx="7704000" cy="3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4. </a:t>
            </a:r>
            <a:r>
              <a:rPr b="1" lang="en-GB" sz="1400"/>
              <a:t>Categories and Subcategories</a:t>
            </a:r>
            <a:endParaRPr b="1" sz="1400"/>
          </a:p>
          <a:p>
            <a:pPr indent="-317500" lvl="0" marL="914400" rtl="0" algn="l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Each </a:t>
            </a:r>
            <a:r>
              <a:rPr b="1" lang="en-GB" sz="1400"/>
              <a:t>subcategory</a:t>
            </a:r>
            <a:r>
              <a:rPr lang="en-GB" sz="1400"/>
              <a:t> belongs to one </a:t>
            </a:r>
            <a:r>
              <a:rPr b="1" lang="en-GB" sz="1400"/>
              <a:t>category</a:t>
            </a:r>
            <a:r>
              <a:rPr lang="en-GB" sz="1400"/>
              <a:t>.</a:t>
            </a:r>
            <a:endParaRPr sz="1400"/>
          </a:p>
          <a:p>
            <a:pPr indent="-317500" lvl="0" marL="9144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Each </a:t>
            </a:r>
            <a:r>
              <a:rPr b="1" lang="en-GB" sz="1400"/>
              <a:t>category</a:t>
            </a:r>
            <a:r>
              <a:rPr lang="en-GB" sz="1400"/>
              <a:t> can have one or many </a:t>
            </a:r>
            <a:r>
              <a:rPr b="1" lang="en-GB" sz="1400"/>
              <a:t>subcategories</a:t>
            </a:r>
            <a:r>
              <a:rPr lang="en-GB" sz="1400"/>
              <a:t>.</a:t>
            </a:r>
            <a:endParaRPr sz="1400"/>
          </a:p>
          <a:p>
            <a:pPr indent="-317500" lvl="0" marL="9144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Categories and subcategories organize the product catalog hierarchically.</a:t>
            </a:r>
            <a:endParaRPr sz="14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GB" sz="1400"/>
              <a:t>5. </a:t>
            </a:r>
            <a:r>
              <a:rPr b="1" lang="en-GB" sz="1400"/>
              <a:t>Order Lines</a:t>
            </a:r>
            <a:endParaRPr b="1" sz="1400"/>
          </a:p>
          <a:p>
            <a:pPr indent="-317500" lvl="0" marL="9144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An </a:t>
            </a:r>
            <a:r>
              <a:rPr b="1" lang="en-GB" sz="1400"/>
              <a:t>order line</a:t>
            </a:r>
            <a:r>
              <a:rPr lang="en-GB" sz="1400"/>
              <a:t> refers to a single </a:t>
            </a:r>
            <a:r>
              <a:rPr b="1" lang="en-GB" sz="1400"/>
              <a:t>product</a:t>
            </a:r>
            <a:r>
              <a:rPr lang="en-GB" sz="1400"/>
              <a:t> within an </a:t>
            </a:r>
            <a:r>
              <a:rPr b="1" lang="en-GB" sz="1400"/>
              <a:t>order</a:t>
            </a:r>
            <a:r>
              <a:rPr lang="en-GB" sz="1400"/>
              <a:t>.</a:t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Order lines record sales, quantity, discount, profit, and profit margin.</a:t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A single </a:t>
            </a:r>
            <a:r>
              <a:rPr b="1" lang="en-GB" sz="1400"/>
              <a:t>order</a:t>
            </a:r>
            <a:r>
              <a:rPr lang="en-GB" sz="1400"/>
              <a:t> can have one or multiple </a:t>
            </a:r>
            <a:r>
              <a:rPr b="1" lang="en-GB" sz="1400"/>
              <a:t>order lines</a:t>
            </a:r>
            <a:r>
              <a:rPr lang="en-GB" sz="1400"/>
              <a:t>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/>
              <a:t>6. Geography</a:t>
            </a:r>
            <a:endParaRPr b="1" sz="1400"/>
          </a:p>
          <a:p>
            <a:pPr indent="-317500" lvl="0" marL="9144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-GB" sz="1400"/>
              <a:t>Location</a:t>
            </a:r>
            <a:r>
              <a:rPr lang="en-GB" sz="1400"/>
              <a:t> information includes Country , State,  City,  ZIP, and Region for the Customer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2"/>
          <p:cNvSpPr txBox="1"/>
          <p:nvPr>
            <p:ph type="title"/>
          </p:nvPr>
        </p:nvSpPr>
        <p:spPr>
          <a:xfrm>
            <a:off x="335150" y="255225"/>
            <a:ext cx="7717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 EDA</a:t>
            </a:r>
            <a:endParaRPr/>
          </a:p>
        </p:txBody>
      </p:sp>
      <p:sp>
        <p:nvSpPr>
          <p:cNvPr id="420" name="Google Shape;420;p42"/>
          <p:cNvSpPr txBox="1"/>
          <p:nvPr>
            <p:ph idx="1" type="body"/>
          </p:nvPr>
        </p:nvSpPr>
        <p:spPr>
          <a:xfrm>
            <a:off x="720000" y="1102875"/>
            <a:ext cx="7704000" cy="3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-"/>
            </a:pPr>
            <a:r>
              <a:t/>
            </a:r>
            <a:endParaRPr/>
          </a:p>
        </p:txBody>
      </p:sp>
      <p:graphicFrame>
        <p:nvGraphicFramePr>
          <p:cNvPr id="421" name="Google Shape;421;p42"/>
          <p:cNvGraphicFramePr/>
          <p:nvPr/>
        </p:nvGraphicFramePr>
        <p:xfrm>
          <a:off x="412650" y="1102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{A640F675-9E7A-4841-B485-4233148FD2A8}</a:tableStyleId>
              </a:tblPr>
              <a:tblGrid>
                <a:gridCol w="1409050"/>
                <a:gridCol w="1409050"/>
              </a:tblGrid>
              <a:tr h="34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Field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Unique Count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4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Customers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793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4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Manufacturers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182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61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Product Names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1,849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4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Segments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3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4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Categories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3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4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Subcategories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17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4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Regions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4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4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Cities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531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4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States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49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422" name="Google Shape;42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6925" y="2607825"/>
            <a:ext cx="4120026" cy="247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6928" y="128125"/>
            <a:ext cx="4120025" cy="247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3"/>
          <p:cNvSpPr txBox="1"/>
          <p:nvPr>
            <p:ph type="title"/>
          </p:nvPr>
        </p:nvSpPr>
        <p:spPr>
          <a:xfrm>
            <a:off x="120875" y="168500"/>
            <a:ext cx="556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4. ERD Model</a:t>
            </a:r>
            <a:endParaRPr/>
          </a:p>
        </p:txBody>
      </p:sp>
      <p:sp>
        <p:nvSpPr>
          <p:cNvPr id="429" name="Google Shape;429;p43"/>
          <p:cNvSpPr txBox="1"/>
          <p:nvPr>
            <p:ph idx="1" type="body"/>
          </p:nvPr>
        </p:nvSpPr>
        <p:spPr>
          <a:xfrm>
            <a:off x="194575" y="1064950"/>
            <a:ext cx="2001900" cy="13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9 entities that reach 3NF,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Relationships 1:M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Constrains: ON Update/ Delete </a:t>
            </a:r>
            <a:r>
              <a:rPr lang="en-GB"/>
              <a:t>Cascade</a:t>
            </a:r>
            <a:endParaRPr/>
          </a:p>
        </p:txBody>
      </p:sp>
      <p:pic>
        <p:nvPicPr>
          <p:cNvPr id="430" name="Google Shape;43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2075" y="741200"/>
            <a:ext cx="5670523" cy="4402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4"/>
          <p:cNvSpPr txBox="1"/>
          <p:nvPr>
            <p:ph type="title"/>
          </p:nvPr>
        </p:nvSpPr>
        <p:spPr>
          <a:xfrm>
            <a:off x="342075" y="1131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5. </a:t>
            </a:r>
            <a:r>
              <a:rPr lang="en-GB"/>
              <a:t>Data Warehouse</a:t>
            </a:r>
            <a:endParaRPr/>
          </a:p>
        </p:txBody>
      </p:sp>
      <p:pic>
        <p:nvPicPr>
          <p:cNvPr id="436" name="Google Shape;436;p44" title="Screenshot 2025-05-07 1935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3175" y="801387"/>
            <a:ext cx="6273876" cy="420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5"/>
          <p:cNvSpPr txBox="1"/>
          <p:nvPr>
            <p:ph type="title"/>
          </p:nvPr>
        </p:nvSpPr>
        <p:spPr>
          <a:xfrm>
            <a:off x="305200" y="855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5. Data Warehouse</a:t>
            </a:r>
            <a:endParaRPr/>
          </a:p>
        </p:txBody>
      </p:sp>
      <p:pic>
        <p:nvPicPr>
          <p:cNvPr id="442" name="Google Shape;442;p45" title="Screenshot 2025-05-07 19344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8025" y="752875"/>
            <a:ext cx="5208651" cy="416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6"/>
          <p:cNvSpPr txBox="1"/>
          <p:nvPr>
            <p:ph type="title"/>
          </p:nvPr>
        </p:nvSpPr>
        <p:spPr>
          <a:xfrm>
            <a:off x="1331525" y="1735188"/>
            <a:ext cx="5845500" cy="167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4900"/>
              <a:t>Insight &amp; Recommendation</a:t>
            </a:r>
            <a:endParaRPr sz="4900"/>
          </a:p>
        </p:txBody>
      </p:sp>
      <p:sp>
        <p:nvSpPr>
          <p:cNvPr id="448" name="Google Shape;448;p46"/>
          <p:cNvSpPr txBox="1"/>
          <p:nvPr>
            <p:ph idx="2" type="title"/>
          </p:nvPr>
        </p:nvSpPr>
        <p:spPr>
          <a:xfrm>
            <a:off x="108425" y="1960200"/>
            <a:ext cx="1223100" cy="122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06</a:t>
            </a:r>
            <a:endParaRPr/>
          </a:p>
        </p:txBody>
      </p:sp>
      <p:cxnSp>
        <p:nvCxnSpPr>
          <p:cNvPr id="449" name="Google Shape;449;p46"/>
          <p:cNvCxnSpPr/>
          <p:nvPr/>
        </p:nvCxnSpPr>
        <p:spPr>
          <a:xfrm>
            <a:off x="720000" y="3600175"/>
            <a:ext cx="6414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50" name="Google Shape;450;p46"/>
          <p:cNvGrpSpPr/>
          <p:nvPr/>
        </p:nvGrpSpPr>
        <p:grpSpPr>
          <a:xfrm>
            <a:off x="518561" y="355031"/>
            <a:ext cx="402866" cy="369933"/>
            <a:chOff x="6985538" y="307000"/>
            <a:chExt cx="1545325" cy="1419000"/>
          </a:xfrm>
        </p:grpSpPr>
        <p:sp>
          <p:nvSpPr>
            <p:cNvPr id="451" name="Google Shape;451;p46"/>
            <p:cNvSpPr/>
            <p:nvPr/>
          </p:nvSpPr>
          <p:spPr>
            <a:xfrm>
              <a:off x="7441700" y="10165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46"/>
            <p:cNvSpPr/>
            <p:nvPr/>
          </p:nvSpPr>
          <p:spPr>
            <a:xfrm rot="10800000">
              <a:off x="7441750" y="3070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46"/>
            <p:cNvSpPr/>
            <p:nvPr/>
          </p:nvSpPr>
          <p:spPr>
            <a:xfrm rot="3599744">
              <a:off x="7134528" y="8390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46"/>
            <p:cNvSpPr/>
            <p:nvPr/>
          </p:nvSpPr>
          <p:spPr>
            <a:xfrm rot="-7200256">
              <a:off x="7748953" y="4845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46"/>
            <p:cNvSpPr/>
            <p:nvPr/>
          </p:nvSpPr>
          <p:spPr>
            <a:xfrm rot="7200256">
              <a:off x="7134541" y="4844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46"/>
            <p:cNvSpPr/>
            <p:nvPr/>
          </p:nvSpPr>
          <p:spPr>
            <a:xfrm rot="-3599744">
              <a:off x="7748916" y="8391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57" name="Google Shape;45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129800" y="0"/>
            <a:ext cx="2014201" cy="514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7" title="Screenshot 2025-05-07 at 23.39.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425" y="186750"/>
            <a:ext cx="6263224" cy="215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7" title="Screenshot 2025-05-07 at 23.40.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0425" y="2624875"/>
            <a:ext cx="5691624" cy="236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8" name="Google Shape;468;p48" title="Screenshot 2025-05-07 at 23.49.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900" y="1362075"/>
            <a:ext cx="7985182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49" title="Top10_Most_Sta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975" y="194525"/>
            <a:ext cx="7729174" cy="477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50" title="Top10_Least_Sta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675" y="178563"/>
            <a:ext cx="7755701" cy="478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oogle Shape;483;p51" title="All_Stat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200" y="107213"/>
            <a:ext cx="7986925" cy="49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52"/>
          <p:cNvSpPr txBox="1"/>
          <p:nvPr>
            <p:ph idx="1" type="body"/>
          </p:nvPr>
        </p:nvSpPr>
        <p:spPr>
          <a:xfrm>
            <a:off x="720000" y="1203200"/>
            <a:ext cx="7704000" cy="3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90" name="Google Shape;49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550" y="143650"/>
            <a:ext cx="7762449" cy="4803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53"/>
          <p:cNvSpPr txBox="1"/>
          <p:nvPr>
            <p:ph idx="1" type="body"/>
          </p:nvPr>
        </p:nvSpPr>
        <p:spPr>
          <a:xfrm>
            <a:off x="720000" y="1203200"/>
            <a:ext cx="7704000" cy="3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97" name="Google Shape;49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250" y="137925"/>
            <a:ext cx="8103750" cy="500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54"/>
          <p:cNvSpPr txBox="1"/>
          <p:nvPr>
            <p:ph idx="1" type="body"/>
          </p:nvPr>
        </p:nvSpPr>
        <p:spPr>
          <a:xfrm>
            <a:off x="720000" y="1203200"/>
            <a:ext cx="7704000" cy="3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04" name="Google Shape;50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8625"/>
            <a:ext cx="708660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6400" y="3418650"/>
            <a:ext cx="3917600" cy="166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Discount solution (For Cubify)</a:t>
            </a:r>
            <a:endParaRPr/>
          </a:p>
        </p:txBody>
      </p:sp>
      <p:sp>
        <p:nvSpPr>
          <p:cNvPr id="511" name="Google Shape;511;p55"/>
          <p:cNvSpPr txBox="1"/>
          <p:nvPr>
            <p:ph idx="1" type="body"/>
          </p:nvPr>
        </p:nvSpPr>
        <p:spPr>
          <a:xfrm>
            <a:off x="720000" y="1203200"/>
            <a:ext cx="7704000" cy="3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12" name="Google Shape;51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946150"/>
            <a:ext cx="760095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998" y="1203200"/>
            <a:ext cx="7652475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6900" y="1946150"/>
            <a:ext cx="4077099" cy="243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0000" y="3346000"/>
            <a:ext cx="7258050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56"/>
          <p:cNvSpPr txBox="1"/>
          <p:nvPr>
            <p:ph idx="1" type="body"/>
          </p:nvPr>
        </p:nvSpPr>
        <p:spPr>
          <a:xfrm>
            <a:off x="720000" y="1203200"/>
            <a:ext cx="7704000" cy="3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22" name="Google Shape;52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" y="0"/>
            <a:ext cx="895110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Recommendation</a:t>
            </a:r>
            <a:endParaRPr/>
          </a:p>
        </p:txBody>
      </p:sp>
      <p:sp>
        <p:nvSpPr>
          <p:cNvPr id="528" name="Google Shape;528;p57"/>
          <p:cNvSpPr txBox="1"/>
          <p:nvPr>
            <p:ph idx="1" type="body"/>
          </p:nvPr>
        </p:nvSpPr>
        <p:spPr>
          <a:xfrm>
            <a:off x="720000" y="1203200"/>
            <a:ext cx="7704000" cy="3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Strengthen Q4 Campaigns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Inventory and Supply Chain Planning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-"/>
            </a:pPr>
            <a:r>
              <a:rPr lang="en-GB" sz="1700">
                <a:latin typeface="Arial"/>
                <a:ea typeface="Arial"/>
                <a:cs typeface="Arial"/>
                <a:sym typeface="Arial"/>
              </a:rPr>
              <a:t>Promotional Timing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3" name="Google Shape;53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906600" cy="383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58"/>
          <p:cNvSpPr txBox="1"/>
          <p:nvPr/>
        </p:nvSpPr>
        <p:spPr>
          <a:xfrm>
            <a:off x="30175" y="3848825"/>
            <a:ext cx="7475700" cy="11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Recommendation</a:t>
            </a:r>
            <a:endParaRPr b="1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-"/>
            </a:pPr>
            <a:r>
              <a:rPr lang="en-GB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Increase investment in Canon products 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-"/>
            </a:pPr>
            <a:r>
              <a:rPr lang="en-GB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Research more for the "Other" category 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9"/>
          <p:cNvSpPr txBox="1"/>
          <p:nvPr>
            <p:ph idx="1" type="body"/>
          </p:nvPr>
        </p:nvSpPr>
        <p:spPr>
          <a:xfrm>
            <a:off x="720000" y="1203200"/>
            <a:ext cx="7704000" cy="3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40" name="Google Shape;54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65925" y="-92175"/>
            <a:ext cx="691410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59"/>
          <p:cNvSpPr txBox="1"/>
          <p:nvPr/>
        </p:nvSpPr>
        <p:spPr>
          <a:xfrm>
            <a:off x="6823650" y="214525"/>
            <a:ext cx="1530000" cy="47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- </a:t>
            </a:r>
            <a:r>
              <a:rPr lang="en-GB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The average delivery day is from 2 -5.5 days.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- </a:t>
            </a:r>
            <a:r>
              <a:rPr lang="en-GB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With max delivery day is 7 days and min is 0 days.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- States had highest delivery is Wyoming, Maine,...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- States had lowest delivery is West Virginia, Louisiana.</a:t>
            </a:r>
            <a:endParaRPr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Recommendation</a:t>
            </a:r>
            <a:endParaRPr/>
          </a:p>
        </p:txBody>
      </p:sp>
      <p:sp>
        <p:nvSpPr>
          <p:cNvPr id="547" name="Google Shape;547;p60"/>
          <p:cNvSpPr txBox="1"/>
          <p:nvPr>
            <p:ph idx="1" type="body"/>
          </p:nvPr>
        </p:nvSpPr>
        <p:spPr>
          <a:xfrm>
            <a:off x="720000" y="1203200"/>
            <a:ext cx="7704000" cy="3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Investigate the causes of delays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-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Expand or Reallocate Distribution Centers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Font typeface="Arial"/>
              <a:buChar char="-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Pilot Programs in Underperforming Regions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7. Future work </a:t>
            </a:r>
            <a:endParaRPr/>
          </a:p>
        </p:txBody>
      </p:sp>
      <p:sp>
        <p:nvSpPr>
          <p:cNvPr id="553" name="Google Shape;553;p61"/>
          <p:cNvSpPr txBox="1"/>
          <p:nvPr>
            <p:ph idx="1" type="body"/>
          </p:nvPr>
        </p:nvSpPr>
        <p:spPr>
          <a:xfrm>
            <a:off x="756875" y="1203200"/>
            <a:ext cx="7704000" cy="3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Due to time constraints and limited experience, there remains considerable potential for improvement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Advanced Tools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Variety of Tools with SQL Connection for Data Visualization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GB" sz="1400"/>
              <a:t>Research deeper and apply More Business Management and Business Analyst into This Dataset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62"/>
          <p:cNvSpPr txBox="1"/>
          <p:nvPr>
            <p:ph type="ctrTitle"/>
          </p:nvPr>
        </p:nvSpPr>
        <p:spPr>
          <a:xfrm>
            <a:off x="2848150" y="689462"/>
            <a:ext cx="4892400" cy="271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6000"/>
              <a:t>T</a:t>
            </a:r>
            <a:r>
              <a:rPr lang="en-GB" sz="6000"/>
              <a:t>hank You</a:t>
            </a:r>
            <a:endParaRPr>
              <a:solidFill>
                <a:schemeClr val="accent1"/>
              </a:solidFill>
            </a:endParaRPr>
          </a:p>
        </p:txBody>
      </p:sp>
      <p:cxnSp>
        <p:nvCxnSpPr>
          <p:cNvPr id="559" name="Google Shape;559;p62"/>
          <p:cNvCxnSpPr/>
          <p:nvPr/>
        </p:nvCxnSpPr>
        <p:spPr>
          <a:xfrm>
            <a:off x="2468800" y="3562475"/>
            <a:ext cx="5966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560" name="Google Shape;560;p62"/>
          <p:cNvGrpSpPr/>
          <p:nvPr/>
        </p:nvGrpSpPr>
        <p:grpSpPr>
          <a:xfrm>
            <a:off x="8222574" y="355031"/>
            <a:ext cx="402866" cy="369933"/>
            <a:chOff x="6985538" y="307000"/>
            <a:chExt cx="1545325" cy="1419000"/>
          </a:xfrm>
        </p:grpSpPr>
        <p:sp>
          <p:nvSpPr>
            <p:cNvPr id="561" name="Google Shape;561;p62"/>
            <p:cNvSpPr/>
            <p:nvPr/>
          </p:nvSpPr>
          <p:spPr>
            <a:xfrm>
              <a:off x="7441700" y="10165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62"/>
            <p:cNvSpPr/>
            <p:nvPr/>
          </p:nvSpPr>
          <p:spPr>
            <a:xfrm rot="10800000">
              <a:off x="7441750" y="307000"/>
              <a:ext cx="633000" cy="7095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62"/>
            <p:cNvSpPr/>
            <p:nvPr/>
          </p:nvSpPr>
          <p:spPr>
            <a:xfrm rot="3599744">
              <a:off x="7134528" y="8390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62"/>
            <p:cNvSpPr/>
            <p:nvPr/>
          </p:nvSpPr>
          <p:spPr>
            <a:xfrm rot="-7200256">
              <a:off x="7748953" y="4845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62"/>
            <p:cNvSpPr/>
            <p:nvPr/>
          </p:nvSpPr>
          <p:spPr>
            <a:xfrm rot="7200256">
              <a:off x="7134541" y="484438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62"/>
            <p:cNvSpPr/>
            <p:nvPr/>
          </p:nvSpPr>
          <p:spPr>
            <a:xfrm rot="-3599744">
              <a:off x="7748916" y="839176"/>
              <a:ext cx="632919" cy="709386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67" name="Google Shape;56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664" y="0"/>
            <a:ext cx="2014201" cy="5143475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62"/>
          <p:cNvSpPr/>
          <p:nvPr/>
        </p:nvSpPr>
        <p:spPr>
          <a:xfrm>
            <a:off x="0" y="-24000"/>
            <a:ext cx="1810800" cy="5191500"/>
          </a:xfrm>
          <a:prstGeom prst="rect">
            <a:avLst/>
          </a:prstGeom>
          <a:gradFill>
            <a:gsLst>
              <a:gs pos="0">
                <a:schemeClr val="dk2"/>
              </a:gs>
              <a:gs pos="24000">
                <a:schemeClr val="lt2"/>
              </a:gs>
              <a:gs pos="49000">
                <a:schemeClr val="accent1"/>
              </a:gs>
              <a:gs pos="75000">
                <a:schemeClr val="accent5"/>
              </a:gs>
              <a:gs pos="100000">
                <a:schemeClr val="dk2"/>
              </a:gs>
            </a:gsLst>
            <a:lin ang="26986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ta Analysis Consulting by Slidesgo">
  <a:themeElements>
    <a:clrScheme name="Simple Light">
      <a:dk1>
        <a:srgbClr val="000000"/>
      </a:dk1>
      <a:lt1>
        <a:srgbClr val="FFFFFF"/>
      </a:lt1>
      <a:dk2>
        <a:srgbClr val="207368"/>
      </a:dk2>
      <a:lt2>
        <a:srgbClr val="9EC0BE"/>
      </a:lt2>
      <a:accent1>
        <a:srgbClr val="B185B4"/>
      </a:accent1>
      <a:accent2>
        <a:srgbClr val="A6C1D8"/>
      </a:accent2>
      <a:accent3>
        <a:srgbClr val="224141"/>
      </a:accent3>
      <a:accent4>
        <a:srgbClr val="E3E8E8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